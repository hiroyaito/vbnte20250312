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69" r:id="rId3"/>
    <p:sldId id="275" r:id="rId4"/>
    <p:sldId id="276" r:id="rId5"/>
    <p:sldId id="277" r:id="rId6"/>
    <p:sldId id="279" r:id="rId7"/>
    <p:sldId id="270" r:id="rId8"/>
    <p:sldId id="271" r:id="rId9"/>
    <p:sldId id="272" r:id="rId10"/>
    <p:sldId id="278" r:id="rId11"/>
    <p:sldId id="273" r:id="rId12"/>
  </p:sldIdLst>
  <p:sldSz cx="9144000" cy="6858000" type="screen4x3"/>
  <p:notesSz cx="6735763" cy="98663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75F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B42D65-2678-4C7B-A05A-6CAFA3C6F6E0}" v="16" dt="2025-06-22T06:52:58.602"/>
    <p1510:client id="{ACFB44CF-05B5-9C5F-2B1F-4FC7B2B8D57F}" v="76" dt="2025-06-22T13:40:09.221"/>
    <p1510:client id="{E7DFDC42-0FBA-44D8-822C-C277E08F6BAE}" v="11" dt="2025-06-22T05:21:37.980"/>
    <p1510:client id="{F7AFB8AB-4FD7-48C6-9890-0FE119B9B83A}" v="1233" dt="2025-06-22T06:28:14.6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84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116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870CCA-E613-4006-88D6-7487C09CBAB1}" type="datetimeFigureOut">
              <a:rPr kumimoji="1" lang="ja-JP" altLang="en-US" smtClean="0"/>
              <a:t>2025/6/22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9A69FD-3F82-489A-8338-4E463ADB79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015236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0C317B-7CC0-49F3-AF73-77180FBC0122}" type="datetimeFigureOut">
              <a:rPr kumimoji="1" lang="ja-JP" altLang="en-US" smtClean="0"/>
              <a:t>2025/6/22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149350" y="1233488"/>
            <a:ext cx="443706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B72B29-0B45-4676-B0B4-8787B06317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017565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81CAFD-6E45-4A00-8954-5138E9414E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9D6F915-582C-439C-AA24-3F65E149AD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A727452-0842-4359-A4B4-3A43379F6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8B6BF-8BF4-438F-986C-B9B57CB546F8}" type="datetime1">
              <a:rPr kumimoji="1" lang="ja-JP" altLang="en-US" smtClean="0"/>
              <a:t>2025/6/22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2EF5CEB-3739-4B63-884A-AC4D2A3D4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B21D084-DD5F-46FE-A36E-113D00374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6163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58F134-1846-406C-B959-23F5D997C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20AA820-6444-4469-B184-60E44A914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8113A99-5DDF-40D4-9230-EE24D5B0D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CA516-ABFF-468F-9F51-11295DC7FCB5}" type="datetime1">
              <a:rPr kumimoji="1" lang="ja-JP" altLang="en-US" smtClean="0"/>
              <a:t>2025/6/22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73854D-6EA5-4DEF-ABC0-4DE6FC3FD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8531893-D6A1-40BE-B70B-601E4BF0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8709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DC68A0-530A-467B-8AD9-5A223FF4C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D70C439-C2FF-4E3E-8A05-1646CDB4B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36C4C80-A71A-446C-AA28-AB0567756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D9D46-8B28-4FE8-A536-96BF53925FB3}" type="datetime1">
              <a:rPr kumimoji="1" lang="ja-JP" altLang="en-US" smtClean="0"/>
              <a:t>2025/6/22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A97595C-0A0D-4E56-9192-8496DC60B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4FB8843-D016-4B42-A0D7-7AA6100C4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0399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83CF8F-F6CB-4BDF-8703-AAEADF8A2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891CEE3-0438-49B8-91D7-5A05732052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A90C337-FB30-4026-93D2-6C2AB113A6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0A8E611-E186-479B-95BD-F4A2AAB9C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6FD81-F6A0-4CD7-B2F9-D6801EE7FB58}" type="datetime1">
              <a:rPr kumimoji="1" lang="ja-JP" altLang="en-US" smtClean="0"/>
              <a:t>2025/6/22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CD36426-DFC9-474A-828D-C3199582A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86A67E0-5E59-4580-BFA3-B08FAE5BC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3531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B8475F-70D2-4573-8B80-D9B264A95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2B1BB0D-DF51-4E31-984F-A0D06DF31F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7D1BC95-5400-43FC-B331-0B70FE2B0E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85D303A-1AE6-4C6A-889E-DE3731C270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22274D0-3425-436D-AA05-6DE5FBBD5A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C91BD9D-0ABB-48FD-99B2-58C43F4F3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D9117-64D0-485F-A88A-1DB132CBFFA3}" type="datetime1">
              <a:rPr kumimoji="1" lang="ja-JP" altLang="en-US" smtClean="0"/>
              <a:t>2025/6/22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58470C1-FB4F-4BBD-B1B6-2411B276A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28684E8-71AF-419A-96BE-E1FE65C4F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2461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2C3521-3306-4E07-8C27-B14D91EC1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12F7DCC-2B3E-4D88-AE6A-B5FF41AFD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7BA22-49A8-4D13-BA4D-904E30E4C09C}" type="datetime1">
              <a:rPr kumimoji="1" lang="ja-JP" altLang="en-US" smtClean="0"/>
              <a:t>2025/6/22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0961C19-CFF3-41E8-9BDC-6445C024B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D154D37-EE46-4B78-B3A3-12B5762E4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353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3AE4A60-89A3-4404-A233-B457D06CF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CFC76-6D47-4306-AE53-5904CEA81B8D}" type="datetime1">
              <a:rPr kumimoji="1" lang="ja-JP" altLang="en-US" smtClean="0"/>
              <a:t>2025/6/22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8B2C89E-C1D4-4D11-ACD9-AF3CCEE8A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41AEC9D-74FE-4059-BFE8-F035A1B5A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8073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C04DAE-9422-41E4-84C0-E99BD9842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CC683F3-D2A1-4AC1-B996-FC750FCCE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B92254B-988B-4E71-8A4E-5FD557E89E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38C2AA9-AB58-49B5-BE60-9FD08B26C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39BF8-7A3F-47D3-8BEE-85D44D054918}" type="datetime1">
              <a:rPr kumimoji="1" lang="ja-JP" altLang="en-US" smtClean="0"/>
              <a:t>2025/6/22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77F81E9-0581-4BE2-B38E-A22391C96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9504D09-C30F-402E-82A7-85916BCE3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4776481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FE4D0C-0BE4-4344-ADEC-0F71E86B4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B0CB4C8-F1BB-454E-A169-75F443C22E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5D2E69A-65C5-4DF8-A194-EC8A3D7174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5E2C6B3-0ACA-4C8C-A8CE-A5707AC3D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684CE-472D-43C7-B072-ED364692F5A2}" type="datetime1">
              <a:rPr kumimoji="1" lang="ja-JP" altLang="en-US" smtClean="0"/>
              <a:t>2025/6/22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A23F967-139A-4503-92EC-A117A6C0F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A6485D5-1DAD-4F93-ABED-56B8C6A47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6249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0FA7C7-0744-4E2E-8199-286F7322A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90C728F-A894-49A0-9742-DE5CA9F7EA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9637E53-D5C6-41A8-84F0-E7EDDD8D8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39BF8-7A3F-47D3-8BEE-85D44D054918}" type="datetime1">
              <a:rPr kumimoji="1" lang="ja-JP" altLang="en-US" smtClean="0"/>
              <a:t>2025/6/22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18EA65D-F9AA-4B53-B3E8-82D38F8CC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BAA2A6A-329C-4A4E-AD82-80BC77154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207668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D68621C-3025-43A4-AB14-5309CFE723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5D7F73C-331A-47FC-AFC4-71775366A6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DA20DC6-058A-44E9-BA54-6E2C18337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ECF09-AA56-49FD-A9FA-1B82F0242FB0}" type="datetime1">
              <a:rPr kumimoji="1" lang="ja-JP" altLang="en-US" smtClean="0"/>
              <a:t>2025/6/22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ACF6D58-839D-4209-82D1-7EE674E1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535069A-B5A4-4DCA-AA14-8500A005C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1728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BD66697-CED7-4B3A-B223-E664B8348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5D28A40-29A1-43C3-A5B9-61204E4AEB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0E1D19-1BF1-441D-B93D-11DE2C9CA9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B39BF8-7A3F-47D3-8BEE-85D44D054918}" type="datetime1">
              <a:rPr kumimoji="1" lang="ja-JP" altLang="en-US" smtClean="0"/>
              <a:t>2025/6/22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3370F68-0836-4381-80E2-449754E4AC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B814DAF-9130-4CF5-9C61-2DF4BA1420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66ADB1-3B9B-4A25-9813-A9A1F2EC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6944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9" r:id="rId1"/>
    <p:sldLayoutId id="2147483850" r:id="rId2"/>
    <p:sldLayoutId id="2147483851" r:id="rId3"/>
    <p:sldLayoutId id="2147483852" r:id="rId4"/>
    <p:sldLayoutId id="2147483853" r:id="rId5"/>
    <p:sldLayoutId id="2147483854" r:id="rId6"/>
    <p:sldLayoutId id="2147483855" r:id="rId7"/>
    <p:sldLayoutId id="2147483856" r:id="rId8"/>
    <p:sldLayoutId id="2147483857" r:id="rId9"/>
    <p:sldLayoutId id="2147483858" r:id="rId10"/>
    <p:sldLayoutId id="2147483859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879271" y="1072938"/>
            <a:ext cx="7543800" cy="1088571"/>
          </a:xfrm>
        </p:spPr>
        <p:txBody>
          <a:bodyPr anchor="ctr">
            <a:normAutofit/>
          </a:bodyPr>
          <a:lstStyle/>
          <a:p>
            <a:pPr algn="ctr"/>
            <a:r>
              <a:rPr kumimoji="1" lang="ja-JP" altLang="en-US" sz="4800" dirty="0"/>
              <a:t>業務経歴＆スキル概略資料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1</a:t>
            </a:fld>
            <a:endParaRPr kumimoji="1" lang="ja-JP" altLang="en-US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7379AEA0-8A11-4D78-B1FE-0B141A29A2A4}"/>
              </a:ext>
            </a:extLst>
          </p:cNvPr>
          <p:cNvSpPr txBox="1">
            <a:spLocks/>
          </p:cNvSpPr>
          <p:nvPr/>
        </p:nvSpPr>
        <p:spPr>
          <a:xfrm>
            <a:off x="1161089" y="2679757"/>
            <a:ext cx="6980164" cy="24126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ja-JP" altLang="en-US" sz="2400">
                <a:ea typeface="游ゴシック"/>
              </a:rPr>
              <a:t>１．業務経歴①～⑤</a:t>
            </a:r>
            <a:endParaRPr lang="en-US" altLang="ja-JP" sz="2400" dirty="0"/>
          </a:p>
          <a:p>
            <a:pPr algn="l"/>
            <a:r>
              <a:rPr lang="ja-JP" altLang="en-US" sz="2400" dirty="0"/>
              <a:t>２．</a:t>
            </a:r>
            <a:r>
              <a:rPr lang="en-US" altLang="ja-JP" sz="2400" dirty="0"/>
              <a:t>S</a:t>
            </a:r>
            <a:r>
              <a:rPr lang="ja-JP" altLang="en-US" sz="2400" dirty="0"/>
              <a:t>社での知識とスキル</a:t>
            </a:r>
            <a:endParaRPr lang="en-US" altLang="ja-JP" sz="2400" dirty="0"/>
          </a:p>
          <a:p>
            <a:pPr algn="l"/>
            <a:r>
              <a:rPr lang="ja-JP" altLang="en-US" sz="2400" dirty="0"/>
              <a:t>３．</a:t>
            </a:r>
            <a:r>
              <a:rPr lang="en-US" altLang="ja-JP" sz="2400" dirty="0"/>
              <a:t>N</a:t>
            </a:r>
            <a:r>
              <a:rPr lang="ja-JP" altLang="en-US" sz="2400" dirty="0"/>
              <a:t>社での知識とスキル</a:t>
            </a:r>
            <a:endParaRPr lang="en-US" altLang="ja-JP" sz="2400" dirty="0"/>
          </a:p>
          <a:p>
            <a:pPr algn="l"/>
            <a:r>
              <a:rPr lang="ja-JP" altLang="en-US" sz="2400" dirty="0"/>
              <a:t>４．</a:t>
            </a:r>
            <a:r>
              <a:rPr lang="en-US" altLang="ja-JP" sz="2400" dirty="0"/>
              <a:t>M</a:t>
            </a:r>
            <a:r>
              <a:rPr lang="ja-JP" altLang="en-US" sz="2400" dirty="0"/>
              <a:t>社での知識とスキル</a:t>
            </a:r>
            <a:endParaRPr lang="en-US" altLang="ja-JP" sz="2400" dirty="0"/>
          </a:p>
          <a:p>
            <a:pPr algn="l"/>
            <a:r>
              <a:rPr lang="ja-JP" altLang="en-US" sz="2400" dirty="0"/>
              <a:t>５．現職での知識とスキル</a:t>
            </a:r>
            <a:endParaRPr lang="en-US" altLang="ja-JP" sz="2400" dirty="0"/>
          </a:p>
          <a:p>
            <a:pPr algn="l"/>
            <a:r>
              <a:rPr lang="ja-JP" altLang="en-US" sz="2400" dirty="0"/>
              <a:t>６．基板製作スキル</a:t>
            </a:r>
            <a:endParaRPr lang="en-US" altLang="ja-JP" sz="2400" dirty="0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D387A602-A543-47BC-BBE2-B29BFA57114A}"/>
              </a:ext>
            </a:extLst>
          </p:cNvPr>
          <p:cNvSpPr/>
          <p:nvPr/>
        </p:nvSpPr>
        <p:spPr>
          <a:xfrm>
            <a:off x="6692111" y="320467"/>
            <a:ext cx="1900518" cy="3605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rgbClr val="FF0000"/>
                </a:solidFill>
              </a:rPr>
              <a:t>Confidential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9B62719-66F2-4119-A9BC-86C9AC386E4C}"/>
              </a:ext>
            </a:extLst>
          </p:cNvPr>
          <p:cNvSpPr txBox="1"/>
          <p:nvPr/>
        </p:nvSpPr>
        <p:spPr>
          <a:xfrm>
            <a:off x="5184921" y="5493565"/>
            <a:ext cx="3238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/>
              <a:t>株式会社　アウトソーシングテクノロジー</a:t>
            </a:r>
            <a:endParaRPr lang="en-US" altLang="ja-JP" sz="1200" dirty="0"/>
          </a:p>
          <a:p>
            <a:pPr algn="ctr"/>
            <a:r>
              <a:rPr kumimoji="1" lang="ja-JP" altLang="en-US" sz="1200" dirty="0"/>
              <a:t>伊藤浩也</a:t>
            </a:r>
          </a:p>
        </p:txBody>
      </p:sp>
    </p:spTree>
    <p:extLst>
      <p:ext uri="{BB962C8B-B14F-4D97-AF65-F5344CB8AC3E}">
        <p14:creationId xmlns:p14="http://schemas.microsoft.com/office/powerpoint/2010/main" val="765653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991596-09DB-4736-97C6-A00CAE33D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3200" dirty="0"/>
              <a:t>１．業務経歴①</a:t>
            </a:r>
            <a:endParaRPr kumimoji="1" lang="ja-JP" altLang="en-US" sz="32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2BCFD49-5371-423C-A1AC-D09F57AE5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2</a:t>
            </a:fld>
            <a:endParaRPr kumimoji="1" lang="ja-JP" altLang="en-US"/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638A7E03-92ED-4141-8945-70474BC28289}"/>
              </a:ext>
            </a:extLst>
          </p:cNvPr>
          <p:cNvSpPr/>
          <p:nvPr/>
        </p:nvSpPr>
        <p:spPr>
          <a:xfrm>
            <a:off x="6692111" y="320467"/>
            <a:ext cx="1900518" cy="3605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rgbClr val="FF0000"/>
                </a:solidFill>
              </a:rPr>
              <a:t>Confidential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7" name="表 7">
            <a:extLst>
              <a:ext uri="{FF2B5EF4-FFF2-40B4-BE49-F238E27FC236}">
                <a16:creationId xmlns:a16="http://schemas.microsoft.com/office/drawing/2014/main" id="{22B0D685-DEAC-4FB1-A075-64EB348136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552148"/>
              </p:ext>
            </p:extLst>
          </p:nvPr>
        </p:nvGraphicFramePr>
        <p:xfrm>
          <a:off x="693490" y="1536342"/>
          <a:ext cx="7821860" cy="270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7648">
                  <a:extLst>
                    <a:ext uri="{9D8B030D-6E8A-4147-A177-3AD203B41FA5}">
                      <a16:colId xmlns:a16="http://schemas.microsoft.com/office/drawing/2014/main" val="1617646069"/>
                    </a:ext>
                  </a:extLst>
                </a:gridCol>
                <a:gridCol w="6334212">
                  <a:extLst>
                    <a:ext uri="{9D8B030D-6E8A-4147-A177-3AD203B41FA5}">
                      <a16:colId xmlns:a16="http://schemas.microsoft.com/office/drawing/2014/main" val="32376295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1. S</a:t>
                      </a:r>
                      <a:r>
                        <a:rPr kumimoji="1" lang="ja-JP" altLang="en-US" dirty="0">
                          <a:solidFill>
                            <a:schemeClr val="tx1"/>
                          </a:solidFill>
                        </a:rPr>
                        <a:t>社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7048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設計開発品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カメラ用</a:t>
                      </a:r>
                      <a:r>
                        <a:rPr kumimoji="1" lang="en-US" altLang="ja-JP" dirty="0"/>
                        <a:t>LSI</a:t>
                      </a:r>
                      <a:r>
                        <a:rPr kumimoji="1" lang="ja-JP" altLang="en-US" dirty="0"/>
                        <a:t>、携帯用画像</a:t>
                      </a:r>
                      <a:r>
                        <a:rPr kumimoji="1" lang="en-US" altLang="ja-JP" dirty="0"/>
                        <a:t>LSI</a:t>
                      </a:r>
                      <a:r>
                        <a:rPr kumimoji="1" lang="ja-JP" altLang="en-US" dirty="0"/>
                        <a:t>、携帯用オーディオ</a:t>
                      </a:r>
                      <a:r>
                        <a:rPr kumimoji="1" lang="en-US" altLang="ja-JP" dirty="0"/>
                        <a:t>LSI</a:t>
                      </a:r>
                      <a:r>
                        <a:rPr kumimoji="1" lang="ja-JP" altLang="en-US" dirty="0"/>
                        <a:t>、ボイスレコーダ</a:t>
                      </a:r>
                      <a:r>
                        <a:rPr kumimoji="1" lang="en-US" altLang="ja-JP" dirty="0"/>
                        <a:t>LSI</a:t>
                      </a:r>
                      <a:r>
                        <a:rPr kumimoji="1" lang="ja-JP" altLang="en-US" dirty="0"/>
                        <a:t>、液晶</a:t>
                      </a:r>
                      <a:r>
                        <a:rPr kumimoji="1" lang="en-US" altLang="ja-JP" dirty="0"/>
                        <a:t>TV</a:t>
                      </a:r>
                      <a:r>
                        <a:rPr kumimoji="1" lang="ja-JP" altLang="en-US" dirty="0"/>
                        <a:t>用</a:t>
                      </a:r>
                      <a:r>
                        <a:rPr kumimoji="1" lang="en-US" altLang="ja-JP" dirty="0"/>
                        <a:t>LSI</a:t>
                      </a:r>
                      <a:r>
                        <a:rPr kumimoji="1" lang="ja-JP" altLang="en-US" dirty="0"/>
                        <a:t>、スマートホン用</a:t>
                      </a:r>
                      <a:r>
                        <a:rPr kumimoji="1" lang="en-US" altLang="ja-JP" dirty="0"/>
                        <a:t>LSI</a:t>
                      </a:r>
                      <a:r>
                        <a:rPr kumimoji="1" lang="ja-JP" altLang="en-US" dirty="0"/>
                        <a:t>、タッチセンサ</a:t>
                      </a:r>
                      <a:r>
                        <a:rPr kumimoji="1" lang="en-US" altLang="ja-JP" dirty="0"/>
                        <a:t>LSI</a:t>
                      </a:r>
                      <a:r>
                        <a:rPr kumimoji="1" lang="ja-JP" altLang="en-US" dirty="0"/>
                        <a:t>、</a:t>
                      </a:r>
                      <a:r>
                        <a:rPr kumimoji="1" lang="en-US" altLang="ja-JP" dirty="0"/>
                        <a:t>ARM</a:t>
                      </a:r>
                      <a:r>
                        <a:rPr kumimoji="1" lang="ja-JP" altLang="en-US" dirty="0"/>
                        <a:t>搭載</a:t>
                      </a:r>
                      <a:r>
                        <a:rPr kumimoji="1" lang="en-US" altLang="ja-JP" dirty="0"/>
                        <a:t>LSI</a:t>
                      </a:r>
                      <a:r>
                        <a:rPr kumimoji="1" lang="ja-JP" altLang="en-US" dirty="0"/>
                        <a:t>、車載用</a:t>
                      </a:r>
                      <a:r>
                        <a:rPr kumimoji="1" lang="en-US" altLang="ja-JP" dirty="0"/>
                        <a:t>LSI</a:t>
                      </a:r>
                      <a:r>
                        <a:rPr kumimoji="1" lang="ja-JP" altLang="en-US" dirty="0"/>
                        <a:t>、人体センサ</a:t>
                      </a:r>
                      <a:r>
                        <a:rPr kumimoji="1" lang="en-US" altLang="ja-JP" dirty="0"/>
                        <a:t>LSI</a:t>
                      </a:r>
                      <a:r>
                        <a:rPr kumimoji="1" lang="ja-JP" altLang="en-US" dirty="0"/>
                        <a:t>、カスタム</a:t>
                      </a:r>
                      <a:r>
                        <a:rPr kumimoji="1" lang="en-US" altLang="ja-JP" dirty="0"/>
                        <a:t>LSI</a:t>
                      </a:r>
                      <a:r>
                        <a:rPr kumimoji="1" lang="ja-JP" altLang="en-US" dirty="0"/>
                        <a:t>、</a:t>
                      </a:r>
                      <a:r>
                        <a:rPr kumimoji="1" lang="en-US" altLang="ja-JP" dirty="0"/>
                        <a:t>USB</a:t>
                      </a:r>
                      <a:r>
                        <a:rPr kumimoji="1" lang="ja-JP" altLang="en-US" dirty="0"/>
                        <a:t>スイッチ</a:t>
                      </a:r>
                      <a:r>
                        <a:rPr kumimoji="1" lang="en-US" altLang="ja-JP" dirty="0"/>
                        <a:t>LSI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05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主業務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LSI</a:t>
                      </a:r>
                      <a:r>
                        <a:rPr kumimoji="1" lang="ja-JP" altLang="en-US" dirty="0"/>
                        <a:t>設計開発（アナログ、デジタル）、評価業務（テスト、評価ソフト、評価基板）、ユーザサポート、</a:t>
                      </a:r>
                      <a:r>
                        <a:rPr kumimoji="1" lang="en-US" altLang="ja-JP" dirty="0"/>
                        <a:t>LSI</a:t>
                      </a:r>
                      <a:r>
                        <a:rPr kumimoji="1" lang="ja-JP" altLang="en-US" dirty="0"/>
                        <a:t>企画＆拡販。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520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詳細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en-US" altLang="ja-JP" dirty="0"/>
                        <a:t>CMOS</a:t>
                      </a:r>
                      <a:r>
                        <a:rPr kumimoji="1" lang="ja-JP" altLang="en-US" dirty="0"/>
                        <a:t>アナログフロントエンド、</a:t>
                      </a:r>
                      <a:r>
                        <a:rPr kumimoji="1" lang="en-US" altLang="ja-JP" dirty="0"/>
                        <a:t>CMOS</a:t>
                      </a:r>
                      <a:r>
                        <a:rPr kumimoji="1" lang="ja-JP" altLang="en-US" dirty="0"/>
                        <a:t>アナログ回路、バイポーラ</a:t>
                      </a:r>
                      <a:r>
                        <a:rPr kumimoji="1" lang="en-US" altLang="ja-JP" dirty="0"/>
                        <a:t>LSI</a:t>
                      </a:r>
                      <a:r>
                        <a:rPr kumimoji="1" lang="ja-JP" altLang="en-US" dirty="0"/>
                        <a:t>設計</a:t>
                      </a:r>
                      <a:endParaRPr kumimoji="1" lang="en-US" altLang="ja-JP" dirty="0"/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ja-JP" altLang="en-US" dirty="0"/>
                        <a:t>カメラ＆画像信号処理設計、</a:t>
                      </a:r>
                      <a:r>
                        <a:rPr kumimoji="1" lang="en-US" altLang="ja-JP" dirty="0" err="1"/>
                        <a:t>verilog</a:t>
                      </a:r>
                      <a:r>
                        <a:rPr kumimoji="1" lang="ja-JP" altLang="en-US" dirty="0"/>
                        <a:t>による大規模</a:t>
                      </a:r>
                      <a:r>
                        <a:rPr kumimoji="1" lang="en-US" altLang="ja-JP" dirty="0"/>
                        <a:t>LSI</a:t>
                      </a:r>
                      <a:r>
                        <a:rPr kumimoji="1" lang="ja-JP" altLang="en-US" dirty="0"/>
                        <a:t>設計</a:t>
                      </a:r>
                      <a:r>
                        <a:rPr kumimoji="1" lang="en-US" altLang="ja-JP" dirty="0"/>
                        <a:t>(60</a:t>
                      </a:r>
                      <a:r>
                        <a:rPr kumimoji="1" lang="ja-JP" altLang="en-US" dirty="0"/>
                        <a:t>万ゲート程度</a:t>
                      </a:r>
                      <a:r>
                        <a:rPr kumimoji="1" lang="en-US" altLang="ja-JP" dirty="0"/>
                        <a:t>)</a:t>
                      </a:r>
                      <a:r>
                        <a:rPr kumimoji="1" lang="ja-JP" altLang="en-US" dirty="0"/>
                        <a:t>。</a:t>
                      </a:r>
                      <a:endParaRPr kumimoji="1" lang="en-US" altLang="ja-JP" dirty="0"/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en-US" altLang="ja-JP" dirty="0"/>
                        <a:t>FPGA</a:t>
                      </a:r>
                      <a:r>
                        <a:rPr kumimoji="1" lang="ja-JP" altLang="en-US" dirty="0"/>
                        <a:t>開発</a:t>
                      </a:r>
                      <a:r>
                        <a:rPr kumimoji="1" lang="en-US" altLang="ja-JP" dirty="0"/>
                        <a:t>(</a:t>
                      </a:r>
                      <a:r>
                        <a:rPr kumimoji="1" lang="ja-JP" altLang="en-US" dirty="0"/>
                        <a:t>アルテラ、ザイリンクス</a:t>
                      </a:r>
                      <a:r>
                        <a:rPr kumimoji="1" lang="en-US" altLang="ja-JP" dirty="0"/>
                        <a:t>Virtex2)</a:t>
                      </a:r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en-US" altLang="ja-JP" dirty="0"/>
                        <a:t>LSI</a:t>
                      </a:r>
                      <a:r>
                        <a:rPr kumimoji="1" lang="ja-JP" altLang="en-US" dirty="0"/>
                        <a:t>＆画質評価</a:t>
                      </a:r>
                      <a:endParaRPr kumimoji="1" lang="en-US" altLang="ja-JP" dirty="0"/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ja-JP" altLang="en-US" dirty="0"/>
                        <a:t>デモ＆評価ボード作成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853777"/>
                  </a:ext>
                </a:extLst>
              </a:tr>
            </a:tbl>
          </a:graphicData>
        </a:graphic>
      </p:graphicFrame>
      <p:pic>
        <p:nvPicPr>
          <p:cNvPr id="23" name="図 22">
            <a:extLst>
              <a:ext uri="{FF2B5EF4-FFF2-40B4-BE49-F238E27FC236}">
                <a16:creationId xmlns:a16="http://schemas.microsoft.com/office/drawing/2014/main" id="{ED044597-A64E-47D8-870A-9337F533E1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1914" y="4727704"/>
            <a:ext cx="1186082" cy="873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5BAA7649-4EB7-499C-B04E-C88D2A5F1F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5512" y="4792725"/>
            <a:ext cx="1282269" cy="743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33C61E2F-CD3B-4FCC-9E64-ECD727B53C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5239" y="4424023"/>
            <a:ext cx="2403403" cy="1795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952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69BD05-29C5-46E5-90BA-4364F03B6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3600" dirty="0"/>
              <a:t>１．業務経歴②</a:t>
            </a:r>
            <a:endParaRPr kumimoji="1" lang="ja-JP" altLang="en-US" dirty="0">
              <a:latin typeface="ＭＳ ゴシック" panose="020B0609070205080204" pitchFamily="49" charset="-128"/>
              <a:ea typeface="ＭＳ ゴシック" panose="020B0609070205080204" pitchFamily="49" charset="-128"/>
              <a:cs typeface="Leelawadee UI Semilight" panose="020B0402040204020203" pitchFamily="34" charset="-34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DE8E76C-3B6B-4BAB-B0D3-BD901DFC1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3</a:t>
            </a:fld>
            <a:endParaRPr kumimoji="1" lang="ja-JP" altLang="en-US"/>
          </a:p>
        </p:txBody>
      </p:sp>
      <p:graphicFrame>
        <p:nvGraphicFramePr>
          <p:cNvPr id="6" name="表 7">
            <a:extLst>
              <a:ext uri="{FF2B5EF4-FFF2-40B4-BE49-F238E27FC236}">
                <a16:creationId xmlns:a16="http://schemas.microsoft.com/office/drawing/2014/main" id="{A4D32BBD-7408-4B54-93B2-0F1A2E50DA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6029577"/>
              </p:ext>
            </p:extLst>
          </p:nvPr>
        </p:nvGraphicFramePr>
        <p:xfrm>
          <a:off x="693490" y="1519171"/>
          <a:ext cx="7821860" cy="3121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7648">
                  <a:extLst>
                    <a:ext uri="{9D8B030D-6E8A-4147-A177-3AD203B41FA5}">
                      <a16:colId xmlns:a16="http://schemas.microsoft.com/office/drawing/2014/main" val="1617646069"/>
                    </a:ext>
                  </a:extLst>
                </a:gridCol>
                <a:gridCol w="6334212">
                  <a:extLst>
                    <a:ext uri="{9D8B030D-6E8A-4147-A177-3AD203B41FA5}">
                      <a16:colId xmlns:a16="http://schemas.microsoft.com/office/drawing/2014/main" val="32376295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2. N</a:t>
                      </a:r>
                      <a:r>
                        <a:rPr kumimoji="1" lang="ja-JP" altLang="en-US" dirty="0">
                          <a:solidFill>
                            <a:schemeClr val="tx1"/>
                          </a:solidFill>
                        </a:rPr>
                        <a:t>社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7048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設計開発品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dirty="0"/>
                        <a:t>マシニングセンタの機内測定用の無線式ボアゲージシステム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/>
                        <a:t>無線式刃先制御システム</a:t>
                      </a:r>
                      <a:endParaRPr kumimoji="1" lang="en-US" altLang="ja-JP" dirty="0"/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/>
                        <a:t>刃先エア制御装置</a:t>
                      </a:r>
                    </a:p>
                    <a:p>
                      <a:r>
                        <a:rPr lang="en-US" altLang="ja-JP" sz="1350" dirty="0"/>
                        <a:t>IoT</a:t>
                      </a:r>
                      <a:r>
                        <a:rPr lang="ja-JP" altLang="en-US" sz="1350" dirty="0"/>
                        <a:t>向け刃先欠損や消耗予兆検出の為の加速度センサーを使ったエッジデバイス</a:t>
                      </a:r>
                      <a:endParaRPr lang="en-US" altLang="ja-JP" sz="1350" dirty="0"/>
                    </a:p>
                    <a:p>
                      <a:r>
                        <a:rPr lang="en-US" altLang="ja-JP" sz="1350" dirty="0"/>
                        <a:t>50W</a:t>
                      </a:r>
                      <a:r>
                        <a:rPr lang="ja-JP" altLang="en-US" sz="1350" dirty="0"/>
                        <a:t>ワイヤレス電力伝送装置</a:t>
                      </a:r>
                      <a:endParaRPr lang="en-US" altLang="ja-JP" sz="13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05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主業務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組み込みソフト開発、アプリソフト開発、基板設計。</a:t>
                      </a:r>
                      <a:endParaRPr kumimoji="1" lang="en-US" altLang="ja-JP" dirty="0"/>
                    </a:p>
                    <a:p>
                      <a:r>
                        <a:rPr kumimoji="1" lang="ja-JP" altLang="en-US" dirty="0"/>
                        <a:t>開発部、製造部のマネージメント。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520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詳細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Bluetooth</a:t>
                      </a:r>
                      <a:r>
                        <a:rPr kumimoji="1" lang="ja-JP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を使った無線式加工径計測装置を</a:t>
                      </a:r>
                      <a:r>
                        <a:rPr kumimoji="1"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1" lang="ja-JP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年掛けて製品化。</a:t>
                      </a:r>
                      <a:r>
                        <a:rPr kumimoji="1"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(NXP</a:t>
                      </a:r>
                      <a:r>
                        <a:rPr kumimoji="1"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kumimoji="1" lang="en-US" altLang="ja-JP" sz="135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atmel</a:t>
                      </a:r>
                      <a:r>
                        <a:rPr kumimoji="1"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マイコン、</a:t>
                      </a:r>
                      <a:r>
                        <a:rPr kumimoji="1"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VB</a:t>
                      </a:r>
                      <a:r>
                        <a:rPr kumimoji="1"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kumimoji="1"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C#</a:t>
                      </a:r>
                      <a:r>
                        <a:rPr kumimoji="1"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  <a:endParaRPr kumimoji="1" lang="en-US" altLang="ja-JP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kumimoji="1" lang="ja-JP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加速度センサーによる加工状況分析装置を</a:t>
                      </a:r>
                      <a:r>
                        <a:rPr kumimoji="1"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MATLAB</a:t>
                      </a:r>
                      <a:r>
                        <a:rPr kumimoji="1" lang="ja-JP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を使って開発</a:t>
                      </a:r>
                      <a:r>
                        <a:rPr kumimoji="1"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。</a:t>
                      </a:r>
                      <a:endParaRPr kumimoji="1" lang="en-US" altLang="ja-JP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kumimoji="1"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Bluetooth</a:t>
                      </a:r>
                      <a:r>
                        <a:rPr kumimoji="1" lang="ja-JP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制御＆</a:t>
                      </a:r>
                      <a:r>
                        <a:rPr kumimoji="1"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WPT</a:t>
                      </a:r>
                      <a:r>
                        <a:rPr kumimoji="1" lang="ja-JP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充電方式の</a:t>
                      </a:r>
                      <a:r>
                        <a:rPr kumimoji="1"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DC</a:t>
                      </a:r>
                      <a:r>
                        <a:rPr kumimoji="1" lang="ja-JP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サーボ刃先制御装置、ワイヤレス電力電送装置（</a:t>
                      </a:r>
                      <a:r>
                        <a:rPr kumimoji="1"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WPT</a:t>
                      </a:r>
                      <a:r>
                        <a:rPr kumimoji="1" lang="ja-JP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）の開発</a:t>
                      </a:r>
                      <a:r>
                        <a:rPr kumimoji="1"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。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853777"/>
                  </a:ext>
                </a:extLst>
              </a:tr>
            </a:tbl>
          </a:graphicData>
        </a:graphic>
      </p:graphicFrame>
      <p:pic>
        <p:nvPicPr>
          <p:cNvPr id="7" name="図 6">
            <a:extLst>
              <a:ext uri="{FF2B5EF4-FFF2-40B4-BE49-F238E27FC236}">
                <a16:creationId xmlns:a16="http://schemas.microsoft.com/office/drawing/2014/main" id="{E9DED66D-0026-4A6A-A622-5630B0DF75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2111" y="4930582"/>
            <a:ext cx="1504950" cy="84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2300FE22-99E7-4885-99A7-230DFEE622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805" y="4775007"/>
            <a:ext cx="1073601" cy="115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稲妻 8">
            <a:extLst>
              <a:ext uri="{FF2B5EF4-FFF2-40B4-BE49-F238E27FC236}">
                <a16:creationId xmlns:a16="http://schemas.microsoft.com/office/drawing/2014/main" id="{98B508D4-4C56-4705-AEE3-C8435A076EE9}"/>
              </a:ext>
            </a:extLst>
          </p:cNvPr>
          <p:cNvSpPr/>
          <p:nvPr/>
        </p:nvSpPr>
        <p:spPr>
          <a:xfrm>
            <a:off x="2509344" y="5252238"/>
            <a:ext cx="520700" cy="173182"/>
          </a:xfrm>
          <a:prstGeom prst="lightningBol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8593FEDF-6594-4FEA-80AE-7B491D5845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6017" y="5067107"/>
            <a:ext cx="1104900" cy="571500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2A7AA593-5EFE-4063-9582-EB03754E8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9547" y="5040894"/>
            <a:ext cx="847725" cy="54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FBB5FB26-1011-497F-AEAE-0964D7C13871}"/>
              </a:ext>
            </a:extLst>
          </p:cNvPr>
          <p:cNvSpPr/>
          <p:nvPr/>
        </p:nvSpPr>
        <p:spPr>
          <a:xfrm>
            <a:off x="6692111" y="320467"/>
            <a:ext cx="1900518" cy="3605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rgbClr val="FF0000"/>
                </a:solidFill>
              </a:rPr>
              <a:t>Confidential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0511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90592F-392A-4B27-8974-52CBD9DF6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3200" dirty="0"/>
              <a:t>１．業務経歴③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1FF56F6-3283-4DEE-B262-14517909A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4</a:t>
            </a:fld>
            <a:endParaRPr kumimoji="1" lang="ja-JP" altLang="en-US"/>
          </a:p>
        </p:txBody>
      </p:sp>
      <p:graphicFrame>
        <p:nvGraphicFramePr>
          <p:cNvPr id="5" name="表 7">
            <a:extLst>
              <a:ext uri="{FF2B5EF4-FFF2-40B4-BE49-F238E27FC236}">
                <a16:creationId xmlns:a16="http://schemas.microsoft.com/office/drawing/2014/main" id="{70DF574E-8B8A-4677-9F21-5CA4057D2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574591"/>
              </p:ext>
            </p:extLst>
          </p:nvPr>
        </p:nvGraphicFramePr>
        <p:xfrm>
          <a:off x="628650" y="1416566"/>
          <a:ext cx="7821860" cy="311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7648">
                  <a:extLst>
                    <a:ext uri="{9D8B030D-6E8A-4147-A177-3AD203B41FA5}">
                      <a16:colId xmlns:a16="http://schemas.microsoft.com/office/drawing/2014/main" val="1617646069"/>
                    </a:ext>
                  </a:extLst>
                </a:gridCol>
                <a:gridCol w="6334212">
                  <a:extLst>
                    <a:ext uri="{9D8B030D-6E8A-4147-A177-3AD203B41FA5}">
                      <a16:colId xmlns:a16="http://schemas.microsoft.com/office/drawing/2014/main" val="32376295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3. M</a:t>
                      </a:r>
                      <a:r>
                        <a:rPr kumimoji="1" lang="ja-JP" altLang="en-US" dirty="0">
                          <a:solidFill>
                            <a:schemeClr val="tx1"/>
                          </a:solidFill>
                        </a:rPr>
                        <a:t>社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7048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設計開発品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350" dirty="0"/>
                        <a:t>新ヘッド搭載のプリンタ新機種開発。</a:t>
                      </a:r>
                      <a:endParaRPr lang="en-US" altLang="ja-JP" sz="1350" dirty="0"/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350" dirty="0"/>
                        <a:t>重量巻取り装置開発。</a:t>
                      </a:r>
                      <a:endParaRPr lang="en-US" altLang="ja-JP" sz="1350" dirty="0"/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350" dirty="0"/>
                        <a:t>新</a:t>
                      </a:r>
                      <a:r>
                        <a:rPr lang="en-US" altLang="ja-JP" sz="1350" dirty="0"/>
                        <a:t>CPU</a:t>
                      </a:r>
                      <a:r>
                        <a:rPr lang="ja-JP" altLang="en-US" sz="1350" dirty="0"/>
                        <a:t>を搭載した次世代プラットフォーム開発。</a:t>
                      </a:r>
                      <a:endParaRPr lang="en-US" altLang="ja-JP" sz="13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05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主業務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新機種用ハード設計開発。新ヘッド基板開発。新</a:t>
                      </a:r>
                      <a:r>
                        <a:rPr kumimoji="1" lang="en-US" altLang="ja-JP" dirty="0"/>
                        <a:t>CPU</a:t>
                      </a:r>
                      <a:r>
                        <a:rPr kumimoji="1" lang="ja-JP" altLang="en-US" dirty="0"/>
                        <a:t>や</a:t>
                      </a:r>
                      <a:r>
                        <a:rPr kumimoji="1" lang="en-US" altLang="ja-JP" dirty="0"/>
                        <a:t>ARM</a:t>
                      </a:r>
                      <a:r>
                        <a:rPr kumimoji="1" lang="ja-JP" altLang="en-US" dirty="0"/>
                        <a:t>内蔵</a:t>
                      </a:r>
                      <a:r>
                        <a:rPr kumimoji="1" lang="en-US" altLang="ja-JP" dirty="0"/>
                        <a:t>FPGA</a:t>
                      </a:r>
                      <a:r>
                        <a:rPr kumimoji="1" lang="ja-JP" altLang="en-US" dirty="0"/>
                        <a:t>検討。</a:t>
                      </a:r>
                      <a:r>
                        <a:rPr kumimoji="1" lang="en-US" altLang="ja-JP" dirty="0"/>
                        <a:t>VHDL</a:t>
                      </a:r>
                      <a:r>
                        <a:rPr kumimoji="1" lang="ja-JP" altLang="en-US" dirty="0"/>
                        <a:t>設計のアルテラ信号処理エンジン検証。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520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詳細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ja-JP" altLang="en-US" dirty="0"/>
                        <a:t>基板設計サポート（</a:t>
                      </a:r>
                      <a:r>
                        <a:rPr kumimoji="1" lang="en-US" altLang="ja-JP" dirty="0"/>
                        <a:t>OrCAD</a:t>
                      </a:r>
                      <a:r>
                        <a:rPr kumimoji="1" lang="ja-JP" altLang="en-US" dirty="0"/>
                        <a:t>）。</a:t>
                      </a:r>
                      <a:endParaRPr kumimoji="1" lang="en-US" altLang="ja-JP" dirty="0"/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ja-JP" altLang="en-US" dirty="0"/>
                        <a:t>アルテラ</a:t>
                      </a:r>
                      <a:r>
                        <a:rPr kumimoji="1" lang="en-US" altLang="ja-JP" dirty="0"/>
                        <a:t>Cyclone10</a:t>
                      </a:r>
                      <a:r>
                        <a:rPr kumimoji="1" lang="ja-JP" altLang="en-US" dirty="0"/>
                        <a:t>への新エンジン設計サポート。</a:t>
                      </a:r>
                      <a:endParaRPr kumimoji="1" lang="en-US" altLang="ja-JP" dirty="0"/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en-US" altLang="ja-JP" dirty="0" err="1"/>
                        <a:t>modelsim</a:t>
                      </a:r>
                      <a:r>
                        <a:rPr kumimoji="1" lang="ja-JP" altLang="en-US" dirty="0"/>
                        <a:t>、</a:t>
                      </a:r>
                      <a:r>
                        <a:rPr kumimoji="1" lang="en-US" altLang="ja-JP" dirty="0" err="1"/>
                        <a:t>quartus</a:t>
                      </a:r>
                      <a:r>
                        <a:rPr kumimoji="1" lang="en-US" altLang="ja-JP" dirty="0"/>
                        <a:t> prime</a:t>
                      </a:r>
                      <a:r>
                        <a:rPr kumimoji="1" lang="ja-JP" altLang="en-US" dirty="0"/>
                        <a:t>を使った環境で開発。</a:t>
                      </a:r>
                      <a:endParaRPr kumimoji="1" lang="en-US" altLang="ja-JP" dirty="0"/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ja-JP" altLang="en-US" dirty="0">
                          <a:solidFill>
                            <a:srgbClr val="FF0000"/>
                          </a:solidFill>
                        </a:rPr>
                        <a:t>外注した新エンジンの致命的な問題点を解消して、生産に寄与</a:t>
                      </a:r>
                      <a:r>
                        <a:rPr kumimoji="1" lang="ja-JP" altLang="en-US" dirty="0"/>
                        <a:t>。</a:t>
                      </a:r>
                      <a:endParaRPr kumimoji="1" lang="en-US" altLang="ja-JP" dirty="0"/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ja-JP" altLang="en-US" dirty="0"/>
                        <a:t>低コストな新ヘッドの回路を</a:t>
                      </a:r>
                      <a:r>
                        <a:rPr kumimoji="1" lang="en-US" altLang="ja-JP" dirty="0"/>
                        <a:t>fix</a:t>
                      </a:r>
                      <a:r>
                        <a:rPr kumimoji="1" lang="ja-JP" altLang="en-US" dirty="0"/>
                        <a:t>するための検討検証の実施と生産寄与。</a:t>
                      </a:r>
                      <a:endParaRPr kumimoji="1" lang="en-US" altLang="ja-JP" dirty="0"/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ja-JP" altLang="en-US" dirty="0">
                          <a:solidFill>
                            <a:srgbClr val="FF0000"/>
                          </a:solidFill>
                        </a:rPr>
                        <a:t>新ヘッドのクロストーク対策の検討実施</a:t>
                      </a:r>
                      <a:r>
                        <a:rPr kumimoji="1" lang="ja-JP" altLang="en-US" dirty="0"/>
                        <a:t>。</a:t>
                      </a:r>
                      <a:endParaRPr kumimoji="1" lang="en-US" altLang="ja-JP" dirty="0"/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ja-JP" altLang="en-US" dirty="0"/>
                        <a:t>現行の重量巻取りの問題点を</a:t>
                      </a:r>
                      <a:r>
                        <a:rPr kumimoji="1" lang="en-US" altLang="ja-JP" dirty="0"/>
                        <a:t>FPGA</a:t>
                      </a:r>
                      <a:r>
                        <a:rPr kumimoji="1" lang="ja-JP" altLang="en-US" dirty="0"/>
                        <a:t>で解消して、生産に寄与。</a:t>
                      </a:r>
                      <a:endParaRPr kumimoji="1" lang="en-US" altLang="ja-J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853777"/>
                  </a:ext>
                </a:extLst>
              </a:tr>
            </a:tbl>
          </a:graphicData>
        </a:graphic>
      </p:graphicFrame>
      <p:pic>
        <p:nvPicPr>
          <p:cNvPr id="7" name="図 6">
            <a:extLst>
              <a:ext uri="{FF2B5EF4-FFF2-40B4-BE49-F238E27FC236}">
                <a16:creationId xmlns:a16="http://schemas.microsoft.com/office/drawing/2014/main" id="{1EB613CF-0A94-4B8E-B138-ADD793E9A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643" y="4556065"/>
            <a:ext cx="2649348" cy="1770738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ED2A2E38-2556-4B04-B14B-0D59357D32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2240" y="4560124"/>
            <a:ext cx="2864053" cy="1495204"/>
          </a:xfrm>
          <a:prstGeom prst="rect">
            <a:avLst/>
          </a:prstGeom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95041BAF-FFA4-4100-A501-D8B863640663}"/>
              </a:ext>
            </a:extLst>
          </p:cNvPr>
          <p:cNvSpPr/>
          <p:nvPr/>
        </p:nvSpPr>
        <p:spPr>
          <a:xfrm>
            <a:off x="6692111" y="320467"/>
            <a:ext cx="1900518" cy="3605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rgbClr val="FF0000"/>
                </a:solidFill>
              </a:rPr>
              <a:t>Confidential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382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2CCF25-56D3-456A-8663-34DC3E3C7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3600" dirty="0"/>
              <a:t>１．業務経歴④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47F7AE3-54A6-4BBD-8B79-5755A3933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5</a:t>
            </a:fld>
            <a:endParaRPr kumimoji="1" lang="ja-JP" altLang="en-US"/>
          </a:p>
        </p:txBody>
      </p:sp>
      <p:graphicFrame>
        <p:nvGraphicFramePr>
          <p:cNvPr id="5" name="表 7">
            <a:extLst>
              <a:ext uri="{FF2B5EF4-FFF2-40B4-BE49-F238E27FC236}">
                <a16:creationId xmlns:a16="http://schemas.microsoft.com/office/drawing/2014/main" id="{7B7A351D-4C76-4736-83C1-904F2410B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4373271"/>
              </p:ext>
            </p:extLst>
          </p:nvPr>
        </p:nvGraphicFramePr>
        <p:xfrm>
          <a:off x="661070" y="1475289"/>
          <a:ext cx="7821860" cy="284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7648">
                  <a:extLst>
                    <a:ext uri="{9D8B030D-6E8A-4147-A177-3AD203B41FA5}">
                      <a16:colId xmlns:a16="http://schemas.microsoft.com/office/drawing/2014/main" val="1617646069"/>
                    </a:ext>
                  </a:extLst>
                </a:gridCol>
                <a:gridCol w="6334212">
                  <a:extLst>
                    <a:ext uri="{9D8B030D-6E8A-4147-A177-3AD203B41FA5}">
                      <a16:colId xmlns:a16="http://schemas.microsoft.com/office/drawing/2014/main" val="32376295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kumimoji="1" lang="ja-JP" altLang="en-US" dirty="0">
                          <a:solidFill>
                            <a:schemeClr val="tx1"/>
                          </a:solidFill>
                        </a:rPr>
                        <a:t>（株）アウトソーシングテクノロジー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7048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設計開発品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350" dirty="0"/>
                        <a:t>A</a:t>
                      </a:r>
                      <a:r>
                        <a:rPr lang="ja-JP" altLang="en-US" sz="1350" dirty="0"/>
                        <a:t>社向け荷重試験機開発</a:t>
                      </a:r>
                      <a:endParaRPr lang="en-US" altLang="ja-JP" sz="13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05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主業務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AC</a:t>
                      </a:r>
                      <a:r>
                        <a:rPr kumimoji="1" lang="ja-JP" altLang="en-US" dirty="0"/>
                        <a:t>サーボモータを制御するマイコンハード製作し、</a:t>
                      </a:r>
                      <a:r>
                        <a:rPr kumimoji="1" lang="en-US" altLang="ja-JP" dirty="0"/>
                        <a:t>PC</a:t>
                      </a:r>
                      <a:r>
                        <a:rPr kumimoji="1" lang="ja-JP" altLang="en-US" dirty="0"/>
                        <a:t>制御システムを製品納入。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520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詳細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kumimoji="1"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</a:t>
                      </a:r>
                      <a:r>
                        <a:rPr kumimoji="1" lang="ja-JP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サーボモータを制御する為の</a:t>
                      </a:r>
                      <a:r>
                        <a:rPr kumimoji="1" lang="ja-JP" altLang="en-US" sz="13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モーションコントローラ、</a:t>
                      </a:r>
                      <a:r>
                        <a:rPr kumimoji="1" lang="ja-JP" altLang="ja-JP" sz="13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サーボコントローラ</a:t>
                      </a:r>
                      <a:r>
                        <a:rPr kumimoji="1" lang="ja-JP" altLang="en-US" sz="13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と</a:t>
                      </a:r>
                      <a:r>
                        <a:rPr kumimoji="1" lang="en-US" altLang="ja-JP" sz="13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PLC</a:t>
                      </a:r>
                      <a:r>
                        <a:rPr kumimoji="1" lang="ja-JP" altLang="ja-JP" sz="13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相当</a:t>
                      </a:r>
                      <a:r>
                        <a:rPr kumimoji="1" lang="ja-JP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のハードウエアを、マイコン</a:t>
                      </a:r>
                      <a:r>
                        <a:rPr kumimoji="1"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(pic32mm0256gpm64)</a:t>
                      </a:r>
                      <a:r>
                        <a:rPr kumimoji="1" lang="ja-JP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と周辺部品を使って実現し、大幅な設備の低コスト化を実現。</a:t>
                      </a:r>
                      <a:endParaRPr kumimoji="1" lang="en-US" altLang="ja-JP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ja-JP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制御盤対応とシステムの検証を実施。</a:t>
                      </a:r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ja-JP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プロトタイプは、半田付けで装置を作成し、メンテナンス用に</a:t>
                      </a:r>
                      <a:r>
                        <a:rPr kumimoji="1"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PCB</a:t>
                      </a:r>
                      <a:r>
                        <a:rPr kumimoji="1" lang="ja-JP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基板のレイアウトを実施。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kumimoji="1" lang="ja-JP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ソフト担当へ引き渡す為、ハード検証の為のソフトを作成して動作検証し、仕事の流れを止めることなく、全体のシステム構築時間を短縮。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853777"/>
                  </a:ext>
                </a:extLst>
              </a:tr>
            </a:tbl>
          </a:graphicData>
        </a:graphic>
      </p:graphicFrame>
      <p:pic>
        <p:nvPicPr>
          <p:cNvPr id="11" name="図 10">
            <a:extLst>
              <a:ext uri="{FF2B5EF4-FFF2-40B4-BE49-F238E27FC236}">
                <a16:creationId xmlns:a16="http://schemas.microsoft.com/office/drawing/2014/main" id="{114BCCC8-0CDD-48D7-94AE-B098F1FCA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858" y="4620472"/>
            <a:ext cx="1541425" cy="1402823"/>
          </a:xfrm>
          <a:prstGeom prst="rect">
            <a:avLst/>
          </a:prstGeom>
        </p:spPr>
      </p:pic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7D84C89A-D58A-414D-B493-32088BCA41C8}"/>
              </a:ext>
            </a:extLst>
          </p:cNvPr>
          <p:cNvSpPr/>
          <p:nvPr/>
        </p:nvSpPr>
        <p:spPr>
          <a:xfrm>
            <a:off x="6692111" y="320467"/>
            <a:ext cx="1900518" cy="3605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rgbClr val="FF0000"/>
                </a:solidFill>
              </a:rPr>
              <a:t>Confidential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C54CF69B-2D5C-4110-AF3F-F2A177039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791" y="4620472"/>
            <a:ext cx="1502270" cy="1402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782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198D3-E8D3-4791-911C-4570EB0EC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1B8159-0332-2090-0D9C-A7FEAA009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3600">
                <a:ea typeface="游ゴシック Light"/>
              </a:rPr>
              <a:t>１．業務経歴⑤</a:t>
            </a:r>
            <a:endParaRPr kumimoji="1" lang="ja-JP" altLang="en-US">
              <a:ea typeface="游ゴシック Light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D519470-CC75-8B92-9CF7-87C765A72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6</a:t>
            </a:fld>
            <a:endParaRPr kumimoji="1" lang="ja-JP" altLang="en-US"/>
          </a:p>
        </p:txBody>
      </p:sp>
      <p:graphicFrame>
        <p:nvGraphicFramePr>
          <p:cNvPr id="5" name="表 7">
            <a:extLst>
              <a:ext uri="{FF2B5EF4-FFF2-40B4-BE49-F238E27FC236}">
                <a16:creationId xmlns:a16="http://schemas.microsoft.com/office/drawing/2014/main" id="{49E6517E-EEA4-4E88-F8F4-7E87FE630F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5553428"/>
              </p:ext>
            </p:extLst>
          </p:nvPr>
        </p:nvGraphicFramePr>
        <p:xfrm>
          <a:off x="661070" y="1516110"/>
          <a:ext cx="7821860" cy="4599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7648">
                  <a:extLst>
                    <a:ext uri="{9D8B030D-6E8A-4147-A177-3AD203B41FA5}">
                      <a16:colId xmlns:a16="http://schemas.microsoft.com/office/drawing/2014/main" val="1617646069"/>
                    </a:ext>
                  </a:extLst>
                </a:gridCol>
                <a:gridCol w="6334212">
                  <a:extLst>
                    <a:ext uri="{9D8B030D-6E8A-4147-A177-3AD203B41FA5}">
                      <a16:colId xmlns:a16="http://schemas.microsoft.com/office/drawing/2014/main" val="32376295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kumimoji="1" lang="ja-JP" altLang="en-US" dirty="0">
                          <a:solidFill>
                            <a:schemeClr val="tx1"/>
                          </a:solidFill>
                        </a:rPr>
                        <a:t>（株）アウトソーシングテクノロジー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7048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設計開発品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350" dirty="0" err="1"/>
                        <a:t>U社派遣先において、ロボット搭載FPGA開発、エンコーダ、センサー開発、プラットフォーム検討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05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主業務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400" b="0" i="0" u="none" strike="noStrike" noProof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①ロボットに搭載する</a:t>
                      </a:r>
                      <a:r>
                        <a:rPr lang="en-US" altLang="ja-JP" sz="1400" b="0" i="0" u="none" strike="noStrike" noProof="0" dirty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FPGA</a:t>
                      </a:r>
                      <a:r>
                        <a:rPr lang="ja-JP" altLang="en-US" sz="1400" b="0" i="0" u="none" strike="noStrike" noProof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開発、</a:t>
                      </a:r>
                      <a:r>
                        <a:rPr lang="en-US" altLang="ja-JP" sz="1400" b="0" i="0" u="none" strike="noStrike" noProof="0" dirty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②</a:t>
                      </a:r>
                      <a:r>
                        <a:rPr lang="ja-JP" altLang="en-US" sz="1400" b="0" i="0" u="none" strike="noStrike" noProof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新エンコーダモジュールの制御用FPGAとモジュールのノイズ対策、③新電流センサーの制御用FPGA開発、④NewTypeエンコーダの評価アプリとマイコン制御ソフトとFPGA開発。⑤新プラットフォーム検討業務として、FPGAからルネサスマイコン構成の検討、⑥新プラットフォームとして、Zynqチップによるプラットフォームのハードソフト検討。</a:t>
                      </a: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520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詳細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</a:pPr>
                      <a:r>
                        <a:rPr lang="ja-JP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新エンコーダモジュール評価用に、FPGA修正開発と評価、及び、ノイズ評価と対策。</a:t>
                      </a:r>
                      <a:r>
                        <a:rPr lang="ja-JP" altLang="ja-JP" sz="1350" kern="120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特許2件、出願申請。EMC対策完。</a:t>
                      </a:r>
                      <a:endParaRPr lang="ja-JP">
                        <a:solidFill>
                          <a:srgbClr val="FF0000"/>
                        </a:solidFill>
                      </a:endParaRPr>
                    </a:p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</a:pPr>
                      <a:r>
                        <a:rPr lang="ja-JP" altLang="en-US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新電流センサ評価用に、ロボットシステムのFPGAへ回路組み込み作業と、評価。</a:t>
                      </a:r>
                      <a:r>
                        <a:rPr lang="ja-JP" altLang="en-US" sz="1350" kern="120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1bitDACをFPGAにロジックを取り込み、コストダウン寄与。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Ø"/>
                      </a:pPr>
                      <a:r>
                        <a:rPr lang="ja-JP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NewTypeエンコーダ評価のため、アプリソフトをVBで開発し、Zynqマイコンでエンコーダの制御を実装。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Ø"/>
                      </a:pPr>
                      <a:r>
                        <a:rPr lang="ja-JP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FPGAソリューションからマイコンソリューションのフィージビリティ検討を行い、処理時間内に実現可能か、ソフトの移植作業を実施。処理能力を満たし、コスト削減が可能な事を確認。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Ø"/>
                      </a:pPr>
                      <a:r>
                        <a:rPr lang="ja-JP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新プラットフォームとしてZynqソリューションの検討。VIVADO、vitisで移植の実現性を検討。</a:t>
                      </a:r>
                      <a:endParaRPr lang="ja-JP" altLang="ja-JP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853777"/>
                  </a:ext>
                </a:extLst>
              </a:tr>
            </a:tbl>
          </a:graphicData>
        </a:graphic>
      </p:graphicFrame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500E7196-B21A-3F82-46E6-1BF0954D0F2F}"/>
              </a:ext>
            </a:extLst>
          </p:cNvPr>
          <p:cNvSpPr/>
          <p:nvPr/>
        </p:nvSpPr>
        <p:spPr>
          <a:xfrm>
            <a:off x="6692111" y="320467"/>
            <a:ext cx="1900518" cy="3605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rgbClr val="FF0000"/>
                </a:solidFill>
              </a:rPr>
              <a:t>Confidential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7804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76E1B2-BFCE-44BE-A886-B062ED447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3200" dirty="0"/>
              <a:t>２．</a:t>
            </a:r>
            <a:r>
              <a:rPr lang="en-US" altLang="ja-JP" sz="3200" dirty="0"/>
              <a:t>S</a:t>
            </a:r>
            <a:r>
              <a:rPr lang="ja-JP" altLang="en-US" sz="3200" dirty="0"/>
              <a:t>社での知識とスキル</a:t>
            </a:r>
            <a:endParaRPr kumimoji="1" lang="ja-JP" altLang="en-US" sz="32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4FE3A97-FFF8-46A5-A18C-384E55E49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7</a:t>
            </a:fld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8AA68C10-4D79-4CE6-B326-85B1D3D4C175}"/>
              </a:ext>
            </a:extLst>
          </p:cNvPr>
          <p:cNvSpPr/>
          <p:nvPr/>
        </p:nvSpPr>
        <p:spPr>
          <a:xfrm>
            <a:off x="6692111" y="320467"/>
            <a:ext cx="1900518" cy="3605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rgbClr val="FF0000"/>
                </a:solidFill>
              </a:rPr>
              <a:t>Confidential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7238F039-1DEA-44A7-8205-F0AC0E6F0C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874603"/>
              </p:ext>
            </p:extLst>
          </p:nvPr>
        </p:nvGraphicFramePr>
        <p:xfrm>
          <a:off x="950258" y="1482875"/>
          <a:ext cx="7642371" cy="44313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15067">
                  <a:extLst>
                    <a:ext uri="{9D8B030D-6E8A-4147-A177-3AD203B41FA5}">
                      <a16:colId xmlns:a16="http://schemas.microsoft.com/office/drawing/2014/main" val="2034795375"/>
                    </a:ext>
                  </a:extLst>
                </a:gridCol>
                <a:gridCol w="1946246">
                  <a:extLst>
                    <a:ext uri="{9D8B030D-6E8A-4147-A177-3AD203B41FA5}">
                      <a16:colId xmlns:a16="http://schemas.microsoft.com/office/drawing/2014/main" val="4087506110"/>
                    </a:ext>
                  </a:extLst>
                </a:gridCol>
                <a:gridCol w="4681058">
                  <a:extLst>
                    <a:ext uri="{9D8B030D-6E8A-4147-A177-3AD203B41FA5}">
                      <a16:colId xmlns:a16="http://schemas.microsoft.com/office/drawing/2014/main" val="495112640"/>
                    </a:ext>
                  </a:extLst>
                </a:gridCol>
              </a:tblGrid>
              <a:tr h="1190889">
                <a:tc rowSpan="2">
                  <a:txBody>
                    <a:bodyPr/>
                    <a:lstStyle/>
                    <a:p>
                      <a:pPr algn="ctr"/>
                      <a:r>
                        <a:rPr lang="ja-JP" sz="1350" kern="100" dirty="0">
                          <a:effectLst/>
                        </a:rPr>
                        <a:t>設計技術</a:t>
                      </a:r>
                      <a:endParaRPr lang="ja-JP" sz="135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 dirty="0">
                          <a:effectLst/>
                        </a:rPr>
                        <a:t>デジタル回路＆基板技術</a:t>
                      </a:r>
                      <a:endParaRPr lang="ja-JP" sz="135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50" kern="100" dirty="0">
                          <a:effectLst/>
                        </a:rPr>
                        <a:t>LSI</a:t>
                      </a:r>
                      <a:r>
                        <a:rPr lang="ja-JP" sz="1350" kern="100" dirty="0">
                          <a:effectLst/>
                        </a:rPr>
                        <a:t>設計：</a:t>
                      </a:r>
                      <a:r>
                        <a:rPr lang="en-US" sz="1350" kern="100" dirty="0">
                          <a:effectLst/>
                        </a:rPr>
                        <a:t>Verilog-HDL, VCS, Spice</a:t>
                      </a:r>
                      <a:r>
                        <a:rPr lang="ja-JP" sz="1350" kern="100" dirty="0">
                          <a:effectLst/>
                        </a:rPr>
                        <a:t>。</a:t>
                      </a:r>
                    </a:p>
                    <a:p>
                      <a:pPr algn="just"/>
                      <a:r>
                        <a:rPr lang="ja-JP" sz="1350" kern="100" dirty="0">
                          <a:effectLst/>
                        </a:rPr>
                        <a:t>基板設計：回路図エントリ（</a:t>
                      </a:r>
                      <a:r>
                        <a:rPr lang="en-US" sz="1350" kern="100" dirty="0" err="1">
                          <a:effectLst/>
                        </a:rPr>
                        <a:t>Orcad</a:t>
                      </a:r>
                      <a:r>
                        <a:rPr lang="en-US" sz="1350" kern="100" dirty="0">
                          <a:effectLst/>
                        </a:rPr>
                        <a:t>, Protel</a:t>
                      </a:r>
                      <a:r>
                        <a:rPr lang="ja-JP" sz="1350" kern="100" dirty="0">
                          <a:effectLst/>
                        </a:rPr>
                        <a:t>）。フロアプラン＆チェック</a:t>
                      </a:r>
                    </a:p>
                    <a:p>
                      <a:pPr algn="just"/>
                      <a:r>
                        <a:rPr lang="ja-JP" sz="1350" kern="100" dirty="0">
                          <a:effectLst/>
                        </a:rPr>
                        <a:t>試作検証：</a:t>
                      </a:r>
                      <a:r>
                        <a:rPr lang="en-US" sz="1350" kern="100" dirty="0">
                          <a:effectLst/>
                        </a:rPr>
                        <a:t>FPGA(Xilinx, Altera )</a:t>
                      </a:r>
                      <a:r>
                        <a:rPr lang="ja-JP" sz="1350" kern="100" dirty="0">
                          <a:effectLst/>
                        </a:rPr>
                        <a:t>の実装</a:t>
                      </a:r>
                      <a:r>
                        <a:rPr lang="en-US" sz="1350" kern="100" dirty="0">
                          <a:effectLst/>
                        </a:rPr>
                        <a:t>(</a:t>
                      </a:r>
                      <a:r>
                        <a:rPr lang="ja-JP" sz="1350" kern="100" dirty="0">
                          <a:effectLst/>
                        </a:rPr>
                        <a:t>コンパイル＆</a:t>
                      </a:r>
                      <a:r>
                        <a:rPr lang="en-US" sz="1350" kern="100" dirty="0">
                          <a:effectLst/>
                        </a:rPr>
                        <a:t>STA)</a:t>
                      </a:r>
                      <a:r>
                        <a:rPr lang="ja-JP" sz="1350" kern="100" dirty="0">
                          <a:effectLst/>
                        </a:rPr>
                        <a:t>と動作検証。</a:t>
                      </a:r>
                      <a:endParaRPr lang="ja-JP" sz="135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42083653"/>
                  </a:ext>
                </a:extLst>
              </a:tr>
              <a:tr h="786615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 dirty="0">
                          <a:effectLst/>
                        </a:rPr>
                        <a:t>アナログ回路</a:t>
                      </a:r>
                      <a:endParaRPr lang="ja-JP" sz="135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sz="1350" kern="100" dirty="0">
                          <a:effectLst/>
                        </a:rPr>
                        <a:t>アナログ</a:t>
                      </a:r>
                      <a:r>
                        <a:rPr lang="en-US" sz="1350" kern="100" dirty="0">
                          <a:effectLst/>
                        </a:rPr>
                        <a:t>IC</a:t>
                      </a:r>
                      <a:r>
                        <a:rPr lang="ja-JP" sz="1350" kern="100" dirty="0">
                          <a:effectLst/>
                        </a:rPr>
                        <a:t>、ビデオアンプ、</a:t>
                      </a:r>
                      <a:r>
                        <a:rPr lang="en-US" sz="1350" kern="100" dirty="0">
                          <a:effectLst/>
                        </a:rPr>
                        <a:t>AGC</a:t>
                      </a:r>
                      <a:r>
                        <a:rPr lang="ja-JP" sz="1350" kern="100" dirty="0">
                          <a:effectLst/>
                        </a:rPr>
                        <a:t>アンプの回路設計とアートワーク。ドライバ、オペアンプ</a:t>
                      </a:r>
                      <a:r>
                        <a:rPr lang="en-US" sz="1350" kern="100" dirty="0">
                          <a:effectLst/>
                        </a:rPr>
                        <a:t>,</a:t>
                      </a:r>
                      <a:r>
                        <a:rPr lang="ja-JP" sz="1350" kern="100" dirty="0">
                          <a:effectLst/>
                        </a:rPr>
                        <a:t>レギュレータ、</a:t>
                      </a:r>
                      <a:r>
                        <a:rPr lang="en-US" sz="1350" kern="100" dirty="0">
                          <a:effectLst/>
                        </a:rPr>
                        <a:t>ADC</a:t>
                      </a:r>
                      <a:r>
                        <a:rPr lang="ja-JP" sz="1350" kern="100" dirty="0">
                          <a:effectLst/>
                        </a:rPr>
                        <a:t>、</a:t>
                      </a:r>
                      <a:r>
                        <a:rPr lang="en-US" sz="1350" kern="100" dirty="0">
                          <a:effectLst/>
                        </a:rPr>
                        <a:t>DAC</a:t>
                      </a:r>
                      <a:r>
                        <a:rPr lang="ja-JP" sz="1350" kern="100" dirty="0">
                          <a:effectLst/>
                        </a:rPr>
                        <a:t>、</a:t>
                      </a:r>
                      <a:r>
                        <a:rPr lang="en-US" sz="1350" kern="100" dirty="0">
                          <a:effectLst/>
                        </a:rPr>
                        <a:t>PLL</a:t>
                      </a:r>
                      <a:r>
                        <a:rPr lang="ja-JP" sz="1350" kern="100" dirty="0">
                          <a:effectLst/>
                        </a:rPr>
                        <a:t>、</a:t>
                      </a:r>
                      <a:r>
                        <a:rPr lang="en-US" sz="1350" kern="100" dirty="0">
                          <a:effectLst/>
                        </a:rPr>
                        <a:t>OSC</a:t>
                      </a:r>
                      <a:r>
                        <a:rPr lang="ja-JP" sz="1350" kern="100" dirty="0">
                          <a:effectLst/>
                        </a:rPr>
                        <a:t>の技術的知見とノウハウ。</a:t>
                      </a:r>
                      <a:endParaRPr lang="ja-JP" sz="135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99308684"/>
                  </a:ext>
                </a:extLst>
              </a:tr>
              <a:tr h="786615">
                <a:tc gridSpan="2"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評価＆ユーザ支援技術＆知見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sz="1350" kern="100" dirty="0">
                          <a:effectLst/>
                        </a:rPr>
                        <a:t>オシロ、スペアナ、評価基板作成、</a:t>
                      </a:r>
                      <a:r>
                        <a:rPr lang="en-US" sz="1350" kern="100" dirty="0">
                          <a:effectLst/>
                        </a:rPr>
                        <a:t>PIC</a:t>
                      </a:r>
                      <a:r>
                        <a:rPr lang="ja-JP" sz="1350" kern="100" dirty="0">
                          <a:effectLst/>
                        </a:rPr>
                        <a:t>マイコンや汎用マイコンによる拡販＆評価基板作成。デモソフト作成（</a:t>
                      </a:r>
                      <a:r>
                        <a:rPr lang="en-US" sz="1350" kern="100" dirty="0">
                          <a:effectLst/>
                        </a:rPr>
                        <a:t>C,VC++</a:t>
                      </a:r>
                      <a:r>
                        <a:rPr lang="ja-JP" sz="1350" kern="100" dirty="0">
                          <a:effectLst/>
                        </a:rPr>
                        <a:t>）。カメラ＆画像信号処理。フィルタ理論。</a:t>
                      </a:r>
                      <a:endParaRPr lang="ja-JP" sz="135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81119077"/>
                  </a:ext>
                </a:extLst>
              </a:tr>
              <a:tr h="1190889">
                <a:tc gridSpan="2">
                  <a:txBody>
                    <a:bodyPr/>
                    <a:lstStyle/>
                    <a:p>
                      <a:pPr algn="ctr"/>
                      <a:r>
                        <a:rPr lang="ja-JP" sz="1350" kern="100" dirty="0">
                          <a:effectLst/>
                        </a:rPr>
                        <a:t>企画＆ユーザ対応</a:t>
                      </a:r>
                      <a:endParaRPr lang="ja-JP" sz="135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50" kern="100" dirty="0">
                          <a:effectLst/>
                        </a:rPr>
                        <a:t>LSI</a:t>
                      </a:r>
                      <a:r>
                        <a:rPr lang="ja-JP" sz="1350" kern="100" dirty="0">
                          <a:effectLst/>
                        </a:rPr>
                        <a:t>製品開発：マーケット分析、開発企画書作成。</a:t>
                      </a:r>
                    </a:p>
                    <a:p>
                      <a:pPr algn="just"/>
                      <a:r>
                        <a:rPr lang="ja-JP" sz="1350" kern="100" dirty="0">
                          <a:effectLst/>
                        </a:rPr>
                        <a:t>拡販：プレゼンテーション資料作成、展示会対応、プレス向け資料、</a:t>
                      </a:r>
                      <a:r>
                        <a:rPr lang="en-US" sz="1350" kern="100" dirty="0">
                          <a:effectLst/>
                        </a:rPr>
                        <a:t>FAE</a:t>
                      </a:r>
                      <a:r>
                        <a:rPr lang="ja-JP" sz="1350" kern="100" dirty="0">
                          <a:effectLst/>
                        </a:rPr>
                        <a:t>業務。</a:t>
                      </a:r>
                    </a:p>
                    <a:p>
                      <a:pPr algn="just"/>
                      <a:r>
                        <a:rPr lang="en-US" sz="1350" kern="100" dirty="0">
                          <a:effectLst/>
                        </a:rPr>
                        <a:t>Project Manager</a:t>
                      </a:r>
                      <a:r>
                        <a:rPr lang="ja-JP" sz="1350" kern="100" dirty="0">
                          <a:effectLst/>
                        </a:rPr>
                        <a:t>：</a:t>
                      </a:r>
                      <a:r>
                        <a:rPr lang="en-US" sz="1350" kern="100" dirty="0">
                          <a:effectLst/>
                        </a:rPr>
                        <a:t>LSI</a:t>
                      </a:r>
                      <a:r>
                        <a:rPr lang="ja-JP" sz="1350" kern="100" dirty="0">
                          <a:effectLst/>
                        </a:rPr>
                        <a:t>開発の</a:t>
                      </a:r>
                      <a:r>
                        <a:rPr lang="en-US" sz="1350" kern="100" dirty="0">
                          <a:effectLst/>
                        </a:rPr>
                        <a:t>Project Manager,</a:t>
                      </a:r>
                      <a:r>
                        <a:rPr lang="ja-JP" sz="1350" kern="100" dirty="0">
                          <a:effectLst/>
                        </a:rPr>
                        <a:t>ユーザ対応</a:t>
                      </a:r>
                      <a:r>
                        <a:rPr lang="en-US" sz="1350" kern="100" dirty="0">
                          <a:effectLst/>
                        </a:rPr>
                        <a:t>&amp;</a:t>
                      </a:r>
                      <a:r>
                        <a:rPr lang="ja-JP" sz="1350" kern="100" dirty="0">
                          <a:effectLst/>
                        </a:rPr>
                        <a:t>技術支援。</a:t>
                      </a:r>
                      <a:endParaRPr lang="ja-JP" sz="135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62738535"/>
                  </a:ext>
                </a:extLst>
              </a:tr>
              <a:tr h="476355">
                <a:tc gridSpan="2"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マネージメント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sz="1350" kern="100" dirty="0">
                          <a:effectLst/>
                        </a:rPr>
                        <a:t>プロジェクトマネージャーとして、部下</a:t>
                      </a:r>
                      <a:r>
                        <a:rPr lang="en-US" sz="1350" kern="100" dirty="0">
                          <a:effectLst/>
                        </a:rPr>
                        <a:t>3-5</a:t>
                      </a:r>
                      <a:r>
                        <a:rPr lang="ja-JP" sz="1350" kern="100" dirty="0">
                          <a:effectLst/>
                        </a:rPr>
                        <a:t>名をマネージメント。</a:t>
                      </a:r>
                      <a:endParaRPr lang="ja-JP" sz="135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927973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9960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820329-6FCE-4F64-9EE1-D008F40E3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601056"/>
            <a:ext cx="7886700" cy="1325563"/>
          </a:xfrm>
        </p:spPr>
        <p:txBody>
          <a:bodyPr>
            <a:normAutofit/>
          </a:bodyPr>
          <a:lstStyle/>
          <a:p>
            <a:r>
              <a:rPr lang="ja-JP" altLang="en-US" sz="3200" dirty="0"/>
              <a:t>３．</a:t>
            </a:r>
            <a:r>
              <a:rPr lang="en-US" altLang="ja-JP" sz="3200" dirty="0"/>
              <a:t>N</a:t>
            </a:r>
            <a:r>
              <a:rPr lang="ja-JP" altLang="en-US" sz="3200" dirty="0"/>
              <a:t>社での知識とスキル</a:t>
            </a:r>
            <a:endParaRPr kumimoji="1" lang="ja-JP" altLang="en-US" sz="32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47CC788-3FA3-4922-854C-484F90C4F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8</a:t>
            </a:fld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33329D3A-382A-4AB6-A434-9BF931251214}"/>
              </a:ext>
            </a:extLst>
          </p:cNvPr>
          <p:cNvSpPr/>
          <p:nvPr/>
        </p:nvSpPr>
        <p:spPr>
          <a:xfrm>
            <a:off x="6692111" y="320467"/>
            <a:ext cx="1900518" cy="3605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rgbClr val="FF0000"/>
                </a:solidFill>
              </a:rPr>
              <a:t>Confidential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1386AF4B-CC40-4CCD-BA02-2BCFAC837C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565323"/>
              </p:ext>
            </p:extLst>
          </p:nvPr>
        </p:nvGraphicFramePr>
        <p:xfrm>
          <a:off x="1432242" y="1966879"/>
          <a:ext cx="6279515" cy="24960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19225">
                  <a:extLst>
                    <a:ext uri="{9D8B030D-6E8A-4147-A177-3AD203B41FA5}">
                      <a16:colId xmlns:a16="http://schemas.microsoft.com/office/drawing/2014/main" val="3354916753"/>
                    </a:ext>
                  </a:extLst>
                </a:gridCol>
                <a:gridCol w="4860290">
                  <a:extLst>
                    <a:ext uri="{9D8B030D-6E8A-4147-A177-3AD203B41FA5}">
                      <a16:colId xmlns:a16="http://schemas.microsoft.com/office/drawing/2014/main" val="1916261289"/>
                    </a:ext>
                  </a:extLst>
                </a:gridCol>
              </a:tblGrid>
              <a:tr h="824929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 dirty="0">
                          <a:effectLst/>
                        </a:rPr>
                        <a:t>実践技術</a:t>
                      </a:r>
                      <a:endParaRPr lang="ja-JP" sz="135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50" kern="100" dirty="0">
                          <a:effectLst/>
                        </a:rPr>
                        <a:t>Bluetooth</a:t>
                      </a:r>
                      <a:r>
                        <a:rPr lang="ja-JP" sz="1350" kern="100" dirty="0">
                          <a:effectLst/>
                        </a:rPr>
                        <a:t>、</a:t>
                      </a:r>
                      <a:r>
                        <a:rPr lang="en-US" sz="1350" kern="100" dirty="0">
                          <a:effectLst/>
                        </a:rPr>
                        <a:t>ZigBee</a:t>
                      </a:r>
                      <a:r>
                        <a:rPr lang="ja-JP" sz="1350" kern="100" dirty="0">
                          <a:effectLst/>
                        </a:rPr>
                        <a:t>、</a:t>
                      </a:r>
                      <a:r>
                        <a:rPr lang="en-US" sz="1350" kern="100" dirty="0">
                          <a:effectLst/>
                        </a:rPr>
                        <a:t>WPT</a:t>
                      </a:r>
                      <a:r>
                        <a:rPr lang="ja-JP" sz="1350" kern="100" dirty="0">
                          <a:effectLst/>
                        </a:rPr>
                        <a:t>、</a:t>
                      </a:r>
                      <a:r>
                        <a:rPr lang="en-US" sz="1350" kern="100" dirty="0">
                          <a:effectLst/>
                        </a:rPr>
                        <a:t>FFT</a:t>
                      </a:r>
                      <a:r>
                        <a:rPr lang="ja-JP" sz="1350" kern="100" dirty="0">
                          <a:effectLst/>
                        </a:rPr>
                        <a:t>、電磁界シミュレータ、</a:t>
                      </a:r>
                      <a:r>
                        <a:rPr lang="en-US" sz="1350" kern="100" dirty="0">
                          <a:effectLst/>
                        </a:rPr>
                        <a:t>DC</a:t>
                      </a:r>
                      <a:r>
                        <a:rPr lang="ja-JP" sz="1350" kern="100" dirty="0">
                          <a:effectLst/>
                        </a:rPr>
                        <a:t>サーボ、回路</a:t>
                      </a:r>
                      <a:r>
                        <a:rPr lang="en-US" sz="1350" kern="100" dirty="0">
                          <a:effectLst/>
                        </a:rPr>
                        <a:t>Simulator</a:t>
                      </a:r>
                      <a:r>
                        <a:rPr lang="ja-JP" altLang="en-US" sz="1350" kern="100" dirty="0">
                          <a:effectLst/>
                        </a:rPr>
                        <a:t>（</a:t>
                      </a:r>
                      <a:r>
                        <a:rPr lang="en-US" altLang="ja-JP" sz="1350" kern="100" dirty="0">
                          <a:effectLst/>
                        </a:rPr>
                        <a:t>LT-spice</a:t>
                      </a:r>
                      <a:r>
                        <a:rPr lang="ja-JP" altLang="en-US" sz="1350" kern="100" dirty="0">
                          <a:effectLst/>
                        </a:rPr>
                        <a:t>、</a:t>
                      </a:r>
                      <a:r>
                        <a:rPr lang="en-US" altLang="ja-JP" sz="1350" kern="100" dirty="0">
                          <a:effectLst/>
                        </a:rPr>
                        <a:t>TINA</a:t>
                      </a:r>
                      <a:r>
                        <a:rPr lang="ja-JP" altLang="en-US" sz="1350" kern="100" dirty="0">
                          <a:effectLst/>
                        </a:rPr>
                        <a:t>）</a:t>
                      </a:r>
                      <a:endParaRPr lang="ja-JP" sz="135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6560790"/>
                  </a:ext>
                </a:extLst>
              </a:tr>
              <a:tr h="556499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評価ユーザ支援技術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sz="1350" kern="100" dirty="0">
                          <a:effectLst/>
                        </a:rPr>
                        <a:t>評価基板作成、</a:t>
                      </a:r>
                      <a:r>
                        <a:rPr lang="en-US" altLang="ja-JP" sz="1350" kern="100" dirty="0">
                          <a:effectLst/>
                        </a:rPr>
                        <a:t>PIC</a:t>
                      </a:r>
                      <a:r>
                        <a:rPr lang="ja-JP" altLang="en-US" sz="1350" kern="100" dirty="0">
                          <a:effectLst/>
                        </a:rPr>
                        <a:t>、</a:t>
                      </a:r>
                      <a:r>
                        <a:rPr lang="en-US" altLang="ja-JP" sz="1350" kern="100" dirty="0">
                          <a:effectLst/>
                        </a:rPr>
                        <a:t>NXP</a:t>
                      </a:r>
                      <a:r>
                        <a:rPr lang="ja-JP" altLang="en-US" sz="1350" kern="100" dirty="0">
                          <a:effectLst/>
                        </a:rPr>
                        <a:t>、</a:t>
                      </a:r>
                      <a:r>
                        <a:rPr lang="en-US" sz="1350" kern="100" dirty="0">
                          <a:effectLst/>
                        </a:rPr>
                        <a:t>Atmel</a:t>
                      </a:r>
                      <a:r>
                        <a:rPr lang="ja-JP" sz="1350" kern="100" dirty="0">
                          <a:effectLst/>
                        </a:rPr>
                        <a:t>マイコン</a:t>
                      </a:r>
                      <a:r>
                        <a:rPr lang="en-US" sz="1350" kern="100" dirty="0">
                          <a:effectLst/>
                        </a:rPr>
                        <a:t>&amp;VB</a:t>
                      </a:r>
                      <a:r>
                        <a:rPr lang="ja-JP" sz="1350" kern="100" dirty="0">
                          <a:effectLst/>
                        </a:rPr>
                        <a:t>によるアプリソフト、</a:t>
                      </a:r>
                      <a:r>
                        <a:rPr lang="en-US" sz="1350" kern="100" dirty="0">
                          <a:effectLst/>
                        </a:rPr>
                        <a:t>MATLAB</a:t>
                      </a:r>
                      <a:r>
                        <a:rPr lang="ja-JP" sz="1350" kern="100" dirty="0">
                          <a:effectLst/>
                        </a:rPr>
                        <a:t>互換ソフト。</a:t>
                      </a:r>
                      <a:endParaRPr lang="ja-JP" sz="135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28973971"/>
                  </a:ext>
                </a:extLst>
              </a:tr>
              <a:tr h="556499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製品開発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50" kern="100" dirty="0">
                          <a:effectLst/>
                        </a:rPr>
                        <a:t>Project Manager</a:t>
                      </a:r>
                      <a:r>
                        <a:rPr lang="ja-JP" sz="1350" kern="100" dirty="0">
                          <a:effectLst/>
                        </a:rPr>
                        <a:t>：製品開発の</a:t>
                      </a:r>
                      <a:r>
                        <a:rPr lang="en-US" sz="1350" kern="100" dirty="0">
                          <a:effectLst/>
                        </a:rPr>
                        <a:t>Project Manager,</a:t>
                      </a:r>
                      <a:r>
                        <a:rPr lang="ja-JP" sz="1350" kern="100" dirty="0">
                          <a:effectLst/>
                        </a:rPr>
                        <a:t>ユーザ対応</a:t>
                      </a:r>
                      <a:r>
                        <a:rPr lang="en-US" sz="1350" kern="100" dirty="0">
                          <a:effectLst/>
                        </a:rPr>
                        <a:t>&amp;</a:t>
                      </a:r>
                      <a:r>
                        <a:rPr lang="ja-JP" sz="1350" kern="100" dirty="0">
                          <a:effectLst/>
                        </a:rPr>
                        <a:t>技術支援。</a:t>
                      </a:r>
                      <a:endParaRPr lang="ja-JP" sz="135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84510059"/>
                  </a:ext>
                </a:extLst>
              </a:tr>
              <a:tr h="558137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マネージメント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altLang="en-US" sz="1350" kern="100" dirty="0">
                          <a:effectLst/>
                        </a:rPr>
                        <a:t>プレイングマネージャ</a:t>
                      </a:r>
                      <a:r>
                        <a:rPr lang="ja-JP" sz="1350" kern="100" dirty="0">
                          <a:effectLst/>
                        </a:rPr>
                        <a:t>として、製造、開発の部下７名をマネージメント。</a:t>
                      </a:r>
                      <a:endParaRPr lang="ja-JP" sz="135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296242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2296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96E4EE-8902-478D-8ACE-C16C83817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3200" dirty="0"/>
              <a:t>４．</a:t>
            </a:r>
            <a:r>
              <a:rPr lang="en-US" altLang="ja-JP" sz="3200" dirty="0"/>
              <a:t>M</a:t>
            </a:r>
            <a:r>
              <a:rPr lang="ja-JP" altLang="en-US" sz="3200" dirty="0"/>
              <a:t>社での知識とスキル</a:t>
            </a:r>
            <a:endParaRPr kumimoji="1" lang="ja-JP" altLang="en-US" sz="32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F94ACC5-E478-48E5-92D9-268222BB8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9</a:t>
            </a:fld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03577C90-1FA2-4B7D-9864-C5140832BF80}"/>
              </a:ext>
            </a:extLst>
          </p:cNvPr>
          <p:cNvSpPr/>
          <p:nvPr/>
        </p:nvSpPr>
        <p:spPr>
          <a:xfrm>
            <a:off x="6692111" y="320467"/>
            <a:ext cx="1900518" cy="3605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rgbClr val="FF0000"/>
                </a:solidFill>
              </a:rPr>
              <a:t>Confidential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9" name="コンテンツ プレースホルダー 8">
            <a:extLst>
              <a:ext uri="{FF2B5EF4-FFF2-40B4-BE49-F238E27FC236}">
                <a16:creationId xmlns:a16="http://schemas.microsoft.com/office/drawing/2014/main" id="{ABCCC533-29D1-47C1-9456-7F86F9E5FF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6027010"/>
              </p:ext>
            </p:extLst>
          </p:nvPr>
        </p:nvGraphicFramePr>
        <p:xfrm>
          <a:off x="1299414" y="1834274"/>
          <a:ext cx="6569459" cy="27209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84755">
                  <a:extLst>
                    <a:ext uri="{9D8B030D-6E8A-4147-A177-3AD203B41FA5}">
                      <a16:colId xmlns:a16="http://schemas.microsoft.com/office/drawing/2014/main" val="1274210294"/>
                    </a:ext>
                  </a:extLst>
                </a:gridCol>
                <a:gridCol w="5084704">
                  <a:extLst>
                    <a:ext uri="{9D8B030D-6E8A-4147-A177-3AD203B41FA5}">
                      <a16:colId xmlns:a16="http://schemas.microsoft.com/office/drawing/2014/main" val="1684694247"/>
                    </a:ext>
                  </a:extLst>
                </a:gridCol>
              </a:tblGrid>
              <a:tr h="679334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 dirty="0">
                          <a:effectLst/>
                        </a:rPr>
                        <a:t>実践技術</a:t>
                      </a:r>
                      <a:endParaRPr lang="ja-JP" sz="135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sz="1350" kern="100">
                          <a:effectLst/>
                        </a:rPr>
                        <a:t>プリンタシステムの動作習得、</a:t>
                      </a:r>
                      <a:r>
                        <a:rPr lang="en-US" sz="1350" kern="100" dirty="0">
                          <a:effectLst/>
                        </a:rPr>
                        <a:t>VHDL</a:t>
                      </a:r>
                      <a:r>
                        <a:rPr lang="ja-JP" sz="1350" kern="100">
                          <a:effectLst/>
                        </a:rPr>
                        <a:t>、</a:t>
                      </a:r>
                      <a:r>
                        <a:rPr lang="en-US" sz="1350" kern="100">
                          <a:effectLst/>
                        </a:rPr>
                        <a:t>Zynq</a:t>
                      </a:r>
                      <a:r>
                        <a:rPr lang="ja-JP" sz="1350" kern="100">
                          <a:effectLst/>
                        </a:rPr>
                        <a:t>等の最新</a:t>
                      </a:r>
                      <a:r>
                        <a:rPr lang="en-US" sz="1350" kern="100" dirty="0">
                          <a:effectLst/>
                        </a:rPr>
                        <a:t>FPGA</a:t>
                      </a:r>
                      <a:endParaRPr lang="ja-JP" sz="135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84594966"/>
                  </a:ext>
                </a:extLst>
              </a:tr>
              <a:tr h="681140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 dirty="0">
                          <a:effectLst/>
                        </a:rPr>
                        <a:t>評価ユーザ支援技術</a:t>
                      </a:r>
                      <a:endParaRPr lang="ja-JP" sz="135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sz="1350" kern="100" dirty="0">
                          <a:effectLst/>
                        </a:rPr>
                        <a:t>デジタルオシロでの評価。</a:t>
                      </a:r>
                      <a:r>
                        <a:rPr lang="en-US" sz="1350" kern="100" dirty="0">
                          <a:effectLst/>
                        </a:rPr>
                        <a:t>485</a:t>
                      </a:r>
                      <a:r>
                        <a:rPr lang="ja-JP" sz="1350" kern="100" dirty="0">
                          <a:effectLst/>
                        </a:rPr>
                        <a:t>等の遠距離通信。</a:t>
                      </a:r>
                      <a:endParaRPr lang="ja-JP" sz="135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60106398"/>
                  </a:ext>
                </a:extLst>
              </a:tr>
              <a:tr h="681140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製品開発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sz="1350" kern="100" dirty="0">
                          <a:effectLst/>
                        </a:rPr>
                        <a:t>業務用新ヘッド搭載のプリンタ新機種開発。重量巻取り装置開発</a:t>
                      </a:r>
                      <a:endParaRPr lang="ja-JP" sz="135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24370489"/>
                  </a:ext>
                </a:extLst>
              </a:tr>
              <a:tr h="679334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マネージメント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sz="1350" kern="100" dirty="0">
                          <a:effectLst/>
                        </a:rPr>
                        <a:t>技術課長として、部下</a:t>
                      </a:r>
                      <a:r>
                        <a:rPr lang="en-US" sz="1350" kern="100" dirty="0">
                          <a:effectLst/>
                        </a:rPr>
                        <a:t>14</a:t>
                      </a:r>
                      <a:r>
                        <a:rPr lang="ja-JP" sz="1350" kern="100" dirty="0">
                          <a:effectLst/>
                        </a:rPr>
                        <a:t>名をマネージメント</a:t>
                      </a:r>
                      <a:endParaRPr lang="ja-JP" sz="135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28513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0160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96E4EE-8902-478D-8ACE-C16C83817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sz="3200" dirty="0"/>
              <a:t>5</a:t>
            </a:r>
            <a:r>
              <a:rPr lang="ja-JP" altLang="en-US" sz="3200" dirty="0"/>
              <a:t>．現職での知識とスキル</a:t>
            </a:r>
            <a:endParaRPr kumimoji="1" lang="ja-JP" altLang="en-US" sz="32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F94ACC5-E478-48E5-92D9-268222BB8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10</a:t>
            </a:fld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03577C90-1FA2-4B7D-9864-C5140832BF80}"/>
              </a:ext>
            </a:extLst>
          </p:cNvPr>
          <p:cNvSpPr/>
          <p:nvPr/>
        </p:nvSpPr>
        <p:spPr>
          <a:xfrm>
            <a:off x="6692111" y="320467"/>
            <a:ext cx="1900518" cy="3605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rgbClr val="FF0000"/>
                </a:solidFill>
              </a:rPr>
              <a:t>Confidential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9" name="コンテンツ プレースホルダー 8">
            <a:extLst>
              <a:ext uri="{FF2B5EF4-FFF2-40B4-BE49-F238E27FC236}">
                <a16:creationId xmlns:a16="http://schemas.microsoft.com/office/drawing/2014/main" id="{ABCCC533-29D1-47C1-9456-7F86F9E5FF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1905892"/>
              </p:ext>
            </p:extLst>
          </p:nvPr>
        </p:nvGraphicFramePr>
        <p:xfrm>
          <a:off x="1299414" y="1834275"/>
          <a:ext cx="6628180" cy="17452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94119">
                  <a:extLst>
                    <a:ext uri="{9D8B030D-6E8A-4147-A177-3AD203B41FA5}">
                      <a16:colId xmlns:a16="http://schemas.microsoft.com/office/drawing/2014/main" val="1274210294"/>
                    </a:ext>
                  </a:extLst>
                </a:gridCol>
                <a:gridCol w="5134061">
                  <a:extLst>
                    <a:ext uri="{9D8B030D-6E8A-4147-A177-3AD203B41FA5}">
                      <a16:colId xmlns:a16="http://schemas.microsoft.com/office/drawing/2014/main" val="1684694247"/>
                    </a:ext>
                  </a:extLst>
                </a:gridCol>
              </a:tblGrid>
              <a:tr h="436312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 dirty="0">
                          <a:effectLst/>
                        </a:rPr>
                        <a:t>実践技術</a:t>
                      </a:r>
                      <a:endParaRPr lang="ja-JP" sz="135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ja-JP" sz="1350" kern="100" err="1">
                          <a:effectLst/>
                          <a:latin typeface="+mn-ea"/>
                          <a:ea typeface="+mn-ea"/>
                          <a:cs typeface="Times New Roman"/>
                        </a:rPr>
                        <a:t>Kicad</a:t>
                      </a:r>
                      <a:r>
                        <a:rPr lang="ja-JP" altLang="en-US" sz="1350" kern="100">
                          <a:effectLst/>
                          <a:latin typeface="+mn-ea"/>
                          <a:ea typeface="+mn-ea"/>
                          <a:cs typeface="Times New Roman"/>
                        </a:rPr>
                        <a:t>を使ったボード設計。マイコンと周辺回路のデザイン。</a:t>
                      </a:r>
                      <a:endParaRPr lang="ja-JP" sz="1350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84594966"/>
                  </a:ext>
                </a:extLst>
              </a:tr>
              <a:tr h="436312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 dirty="0">
                          <a:effectLst/>
                        </a:rPr>
                        <a:t>評価ユーザ支援技術</a:t>
                      </a:r>
                      <a:endParaRPr lang="ja-JP" sz="135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sz="1350" kern="100" dirty="0">
                          <a:effectLst/>
                        </a:rPr>
                        <a:t>デジタルオシロでの評価。</a:t>
                      </a:r>
                      <a:endParaRPr lang="ja-JP" sz="135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60106398"/>
                  </a:ext>
                </a:extLst>
              </a:tr>
              <a:tr h="436312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製品開発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altLang="en-US" sz="135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荷重試験機</a:t>
                      </a:r>
                      <a:endParaRPr lang="ja-JP" sz="135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24370489"/>
                  </a:ext>
                </a:extLst>
              </a:tr>
              <a:tr h="436312">
                <a:tc>
                  <a:txBody>
                    <a:bodyPr/>
                    <a:lstStyle/>
                    <a:p>
                      <a:pPr algn="ctr"/>
                      <a:endParaRPr lang="ja-JP" altLang="en-US" sz="1350" b="1" kern="100" dirty="0">
                        <a:effectLst/>
                        <a:latin typeface="游ゴシック"/>
                        <a:ea typeface="游ゴシック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endParaRPr lang="ja-JP" altLang="en-US" sz="1350" kern="100" dirty="0">
                        <a:effectLst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28513319"/>
                  </a:ext>
                </a:extLst>
              </a:tr>
            </a:tbl>
          </a:graphicData>
        </a:graphic>
      </p:graphicFrame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4ABEA76-79AF-7621-611C-A701BBC6FF16}"/>
              </a:ext>
            </a:extLst>
          </p:cNvPr>
          <p:cNvSpPr txBox="1"/>
          <p:nvPr/>
        </p:nvSpPr>
        <p:spPr>
          <a:xfrm>
            <a:off x="1114207" y="1403192"/>
            <a:ext cx="234554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1400" dirty="0">
                <a:ea typeface="+mn-lt"/>
              </a:rPr>
              <a:t>A</a:t>
            </a:r>
            <a:r>
              <a:rPr lang="ja-JP" sz="1400">
                <a:ea typeface="游ゴシック"/>
              </a:rPr>
              <a:t>社向け荷重試験機開発</a:t>
            </a:r>
          </a:p>
        </p:txBody>
      </p:sp>
      <p:graphicFrame>
        <p:nvGraphicFramePr>
          <p:cNvPr id="11" name="コンテンツ プレースホルダー 8">
            <a:extLst>
              <a:ext uri="{FF2B5EF4-FFF2-40B4-BE49-F238E27FC236}">
                <a16:creationId xmlns:a16="http://schemas.microsoft.com/office/drawing/2014/main" id="{EFEE2F19-35F2-CFFB-A98A-716D22AEF1C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08918725"/>
              </p:ext>
            </p:extLst>
          </p:nvPr>
        </p:nvGraphicFramePr>
        <p:xfrm>
          <a:off x="1296956" y="4021952"/>
          <a:ext cx="6628180" cy="17452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94119">
                  <a:extLst>
                    <a:ext uri="{9D8B030D-6E8A-4147-A177-3AD203B41FA5}">
                      <a16:colId xmlns:a16="http://schemas.microsoft.com/office/drawing/2014/main" val="1274210294"/>
                    </a:ext>
                  </a:extLst>
                </a:gridCol>
                <a:gridCol w="5134061">
                  <a:extLst>
                    <a:ext uri="{9D8B030D-6E8A-4147-A177-3AD203B41FA5}">
                      <a16:colId xmlns:a16="http://schemas.microsoft.com/office/drawing/2014/main" val="1684694247"/>
                    </a:ext>
                  </a:extLst>
                </a:gridCol>
              </a:tblGrid>
              <a:tr h="436312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 dirty="0">
                          <a:effectLst/>
                        </a:rPr>
                        <a:t>実践技術</a:t>
                      </a:r>
                      <a:endParaRPr lang="ja-JP" sz="135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ja-JP" sz="1350" kern="100" dirty="0" err="1">
                          <a:effectLst/>
                          <a:latin typeface="+mn-ea"/>
                          <a:ea typeface="+mn-ea"/>
                          <a:cs typeface="Times New Roman"/>
                        </a:rPr>
                        <a:t>Vivado</a:t>
                      </a:r>
                      <a:r>
                        <a:rPr lang="en-US" altLang="ja-JP" sz="1350" kern="100" dirty="0">
                          <a:effectLst/>
                          <a:latin typeface="+mn-ea"/>
                          <a:ea typeface="+mn-ea"/>
                          <a:cs typeface="Times New Roman"/>
                        </a:rPr>
                        <a:t>, </a:t>
                      </a:r>
                      <a:r>
                        <a:rPr lang="en-US" altLang="ja-JP" sz="1350" kern="100" dirty="0" err="1">
                          <a:effectLst/>
                          <a:latin typeface="+mn-ea"/>
                          <a:ea typeface="+mn-ea"/>
                          <a:cs typeface="Times New Roman"/>
                        </a:rPr>
                        <a:t>Vitis、Quartus</a:t>
                      </a:r>
                      <a:r>
                        <a:rPr lang="en-US" altLang="ja-JP" sz="1350" kern="100" dirty="0">
                          <a:effectLst/>
                          <a:latin typeface="+mn-ea"/>
                          <a:ea typeface="+mn-ea"/>
                          <a:cs typeface="Times New Roman"/>
                        </a:rPr>
                        <a:t> prime、e2 </a:t>
                      </a:r>
                      <a:r>
                        <a:rPr lang="en-US" altLang="ja-JP" sz="1350" kern="100" dirty="0" err="1">
                          <a:effectLst/>
                          <a:latin typeface="+mn-ea"/>
                          <a:ea typeface="+mn-ea"/>
                          <a:cs typeface="Times New Roman"/>
                        </a:rPr>
                        <a:t>studio、CS</a:t>
                      </a:r>
                      <a:r>
                        <a:rPr lang="en-US" altLang="ja-JP" sz="1350" kern="100" dirty="0">
                          <a:effectLst/>
                          <a:latin typeface="+mn-ea"/>
                          <a:ea typeface="+mn-ea"/>
                          <a:cs typeface="Times New Roman"/>
                        </a:rPr>
                        <a:t>+、</a:t>
                      </a:r>
                      <a:r>
                        <a:rPr lang="en-US" altLang="ja-JP" sz="1350" kern="100" dirty="0" err="1">
                          <a:effectLst/>
                          <a:latin typeface="+mn-ea"/>
                          <a:ea typeface="+mn-ea"/>
                          <a:cs typeface="Times New Roman"/>
                        </a:rPr>
                        <a:t>LTspice</a:t>
                      </a:r>
                      <a:r>
                        <a:rPr lang="en-US" altLang="ja-JP" sz="1350" kern="100" dirty="0">
                          <a:effectLst/>
                          <a:latin typeface="+mn-ea"/>
                          <a:ea typeface="+mn-ea"/>
                          <a:cs typeface="Times New Roman"/>
                        </a:rPr>
                        <a:t>、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84594966"/>
                  </a:ext>
                </a:extLst>
              </a:tr>
              <a:tr h="436312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 dirty="0">
                          <a:effectLst/>
                        </a:rPr>
                        <a:t>評価ユーザ支援技術</a:t>
                      </a:r>
                      <a:endParaRPr lang="ja-JP" sz="135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ja-JP" sz="1350" kern="100" dirty="0" err="1">
                          <a:effectLst/>
                        </a:rPr>
                        <a:t>EMC評価とその対策業務</a:t>
                      </a:r>
                      <a:r>
                        <a:rPr lang="ja-JP" sz="1350" kern="100">
                          <a:effectLst/>
                        </a:rPr>
                        <a:t>。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60106398"/>
                  </a:ext>
                </a:extLst>
              </a:tr>
              <a:tr h="436312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製品開発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altLang="en-US" sz="1350" kern="100">
                          <a:effectLst/>
                          <a:latin typeface="+mn-ea"/>
                          <a:ea typeface="+mn-ea"/>
                          <a:cs typeface="Times New Roman"/>
                        </a:rPr>
                        <a:t>ロボット用FPGA開発、マイコン開発</a:t>
                      </a:r>
                      <a:endParaRPr lang="ja-JP" altLang="en-US" sz="135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24370489"/>
                  </a:ext>
                </a:extLst>
              </a:tr>
              <a:tr h="436312">
                <a:tc>
                  <a:txBody>
                    <a:bodyPr/>
                    <a:lstStyle/>
                    <a:p>
                      <a:pPr algn="ctr"/>
                      <a:endParaRPr lang="ja-JP" altLang="en-US" sz="1350" b="1" kern="100" dirty="0">
                        <a:effectLst/>
                        <a:latin typeface="游ゴシック"/>
                        <a:ea typeface="游ゴシック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endParaRPr lang="ja-JP" altLang="en-US" sz="1350" kern="100" dirty="0">
                        <a:effectLst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28513319"/>
                  </a:ext>
                </a:extLst>
              </a:tr>
            </a:tbl>
          </a:graphicData>
        </a:graphic>
      </p:graphicFrame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6C84A1D-7146-D1FD-DE9A-9DDA87CE310C}"/>
              </a:ext>
            </a:extLst>
          </p:cNvPr>
          <p:cNvSpPr txBox="1"/>
          <p:nvPr/>
        </p:nvSpPr>
        <p:spPr>
          <a:xfrm>
            <a:off x="1210071" y="3711314"/>
            <a:ext cx="234554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400">
                <a:ea typeface="游ゴシック"/>
              </a:rPr>
              <a:t>Ｕ</a:t>
            </a:r>
            <a:r>
              <a:rPr lang="ja-JP" sz="1400">
                <a:ea typeface="游ゴシック"/>
              </a:rPr>
              <a:t>社での派遣先</a:t>
            </a:r>
            <a:r>
              <a:rPr lang="ja-JP" altLang="en-US" sz="1400">
                <a:ea typeface="游ゴシック"/>
              </a:rPr>
              <a:t>業務</a:t>
            </a:r>
          </a:p>
        </p:txBody>
      </p:sp>
    </p:spTree>
    <p:extLst>
      <p:ext uri="{BB962C8B-B14F-4D97-AF65-F5344CB8AC3E}">
        <p14:creationId xmlns:p14="http://schemas.microsoft.com/office/powerpoint/2010/main" val="1339100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B11AF7-4B10-4F1F-A3E1-30F53647F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3200" dirty="0"/>
              <a:t>６．基板製作スキル</a:t>
            </a:r>
            <a:endParaRPr kumimoji="1" lang="ja-JP" altLang="en-US" sz="32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293FAB4-89EB-4A03-9169-0AC4E751B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11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8944B67E-65A5-405E-A1FB-894AD4688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098" y="1521268"/>
            <a:ext cx="2687784" cy="148591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36E65800-F7CB-4822-BE3F-D569239D01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0049" y="1521269"/>
            <a:ext cx="4370664" cy="148591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E6E30DBA-2B73-452A-99D2-3FF13F8257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140" y="3252494"/>
            <a:ext cx="3422358" cy="1479659"/>
          </a:xfrm>
          <a:prstGeom prst="rect">
            <a:avLst/>
          </a:prstGeom>
        </p:spPr>
      </p:pic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DD662B09-6BF1-445E-AB9A-3AC7504DD21A}"/>
              </a:ext>
            </a:extLst>
          </p:cNvPr>
          <p:cNvSpPr/>
          <p:nvPr/>
        </p:nvSpPr>
        <p:spPr>
          <a:xfrm>
            <a:off x="6692111" y="320467"/>
            <a:ext cx="1900518" cy="3605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rgbClr val="FF0000"/>
                </a:solidFill>
              </a:rPr>
              <a:t>Confidential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pic>
        <p:nvPicPr>
          <p:cNvPr id="3" name="図 2" descr="黒い背景と白い文字のロゴ&#10;&#10;AI 生成コンテンツは間違っている可能性があります。">
            <a:extLst>
              <a:ext uri="{FF2B5EF4-FFF2-40B4-BE49-F238E27FC236}">
                <a16:creationId xmlns:a16="http://schemas.microsoft.com/office/drawing/2014/main" id="{9D086D50-004E-D4DB-CBA9-63B9D323F9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156" y="5068660"/>
            <a:ext cx="1611476" cy="1469572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F841976-C23D-746E-E479-25A6DBCFB1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0285" y="5070412"/>
            <a:ext cx="2517322" cy="1452463"/>
          </a:xfrm>
          <a:prstGeom prst="rect">
            <a:avLst/>
          </a:prstGeom>
        </p:spPr>
      </p:pic>
      <p:pic>
        <p:nvPicPr>
          <p:cNvPr id="7" name="図 6" descr="電子機器, 回路 が含まれている画像&#10;&#10;AI 生成コンテンツは間違っている可能性があります。">
            <a:extLst>
              <a:ext uri="{FF2B5EF4-FFF2-40B4-BE49-F238E27FC236}">
                <a16:creationId xmlns:a16="http://schemas.microsoft.com/office/drawing/2014/main" id="{C3C88816-30E9-7CDC-C5C4-34120A6102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9107" y="5067518"/>
            <a:ext cx="2598965" cy="1499071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CE73ED53-D808-01A2-0BAF-1CB81B0639F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29125" y="3217036"/>
            <a:ext cx="3292930" cy="1505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466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2366</TotalTime>
  <Words>1002</Words>
  <Application>Microsoft Office PowerPoint</Application>
  <PresentationFormat>On-screen Show (4:3)</PresentationFormat>
  <Paragraphs>127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テーマ</vt:lpstr>
      <vt:lpstr>業務経歴＆スキル概略資料</vt:lpstr>
      <vt:lpstr>１．業務経歴①</vt:lpstr>
      <vt:lpstr>１．業務経歴②</vt:lpstr>
      <vt:lpstr>１．業務経歴③</vt:lpstr>
      <vt:lpstr>１．業務経歴④</vt:lpstr>
      <vt:lpstr>１．業務経歴⑤</vt:lpstr>
      <vt:lpstr>２．S社での知識とスキル</vt:lpstr>
      <vt:lpstr>３．N社での知識とスキル</vt:lpstr>
      <vt:lpstr>４．M社での知識とスキル</vt:lpstr>
      <vt:lpstr>5．現職での知識とスキル</vt:lpstr>
      <vt:lpstr>６．基板製作スキル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技術資料説明資料</dc:title>
  <dc:creator>伊藤 浩也</dc:creator>
  <cp:lastModifiedBy>伊藤　浩也</cp:lastModifiedBy>
  <cp:revision>402</cp:revision>
  <cp:lastPrinted>2021-09-10T09:55:21Z</cp:lastPrinted>
  <dcterms:created xsi:type="dcterms:W3CDTF">2019-04-01T23:43:14Z</dcterms:created>
  <dcterms:modified xsi:type="dcterms:W3CDTF">2025-06-22T13:55:18Z</dcterms:modified>
</cp:coreProperties>
</file>